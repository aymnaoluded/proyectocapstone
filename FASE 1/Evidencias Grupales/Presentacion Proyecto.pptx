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alibri (MS) Bold" charset="1" panose="020F0702030404030204"/>
      <p:regular r:id="rId16"/>
    </p:embeddedFont>
    <p:embeddedFont>
      <p:font typeface="Cambria Bold" charset="1" panose="02040803050406030204"/>
      <p:regular r:id="rId17"/>
    </p:embeddedFont>
    <p:embeddedFont>
      <p:font typeface="Calibri (MS)" charset="1" panose="020F05020202040302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1.pn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4.png" Type="http://schemas.openxmlformats.org/officeDocument/2006/relationships/image"/><Relationship Id="rId4" Target="../media/image15.png" Type="http://schemas.openxmlformats.org/officeDocument/2006/relationships/image"/><Relationship Id="rId5" Target="../media/image16.png" Type="http://schemas.openxmlformats.org/officeDocument/2006/relationships/image"/><Relationship Id="rId6" Target="../media/image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4.png" Type="http://schemas.openxmlformats.org/officeDocument/2006/relationships/image"/><Relationship Id="rId4" Target="../media/image1.png" Type="http://schemas.openxmlformats.org/officeDocument/2006/relationships/image"/><Relationship Id="rId5" Target="../media/image7.pn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20.png" Type="http://schemas.openxmlformats.org/officeDocument/2006/relationships/image"/><Relationship Id="rId4" Target="../media/image8.png" Type="http://schemas.openxmlformats.org/officeDocument/2006/relationships/image"/><Relationship Id="rId5" Target="../media/image21.png" Type="http://schemas.openxmlformats.org/officeDocument/2006/relationships/image"/><Relationship Id="rId6" Target="../media/image2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538960" y="-2468880"/>
            <a:ext cx="6858000" cy="6858000"/>
            <a:chOff x="0" y="0"/>
            <a:chExt cx="9144000" cy="914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9144000">
                  <a:moveTo>
                    <a:pt x="0" y="4572000"/>
                  </a:moveTo>
                  <a:cubicBezTo>
                    <a:pt x="0" y="2046986"/>
                    <a:pt x="2046986" y="0"/>
                    <a:pt x="4572000" y="0"/>
                  </a:cubicBezTo>
                  <a:cubicBezTo>
                    <a:pt x="7097014" y="0"/>
                    <a:pt x="9144000" y="2046986"/>
                    <a:pt x="9144000" y="4572000"/>
                  </a:cubicBezTo>
                  <a:cubicBezTo>
                    <a:pt x="9144000" y="7097014"/>
                    <a:pt x="7097014" y="9144000"/>
                    <a:pt x="4572000" y="9144000"/>
                  </a:cubicBezTo>
                  <a:cubicBezTo>
                    <a:pt x="2046986" y="9144000"/>
                    <a:pt x="0" y="7097014"/>
                    <a:pt x="0" y="457200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6184880" y="6309360"/>
            <a:ext cx="4114800" cy="4114800"/>
            <a:chOff x="0" y="0"/>
            <a:chExt cx="5486400" cy="5486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2743200"/>
                  </a:moveTo>
                  <a:cubicBezTo>
                    <a:pt x="0" y="1228217"/>
                    <a:pt x="1228217" y="0"/>
                    <a:pt x="2743200" y="0"/>
                  </a:cubicBezTo>
                  <a:cubicBezTo>
                    <a:pt x="4258183" y="0"/>
                    <a:pt x="5486400" y="1228217"/>
                    <a:pt x="5486400" y="2743200"/>
                  </a:cubicBezTo>
                  <a:cubicBezTo>
                    <a:pt x="5486400" y="4258183"/>
                    <a:pt x="4258183" y="5486400"/>
                    <a:pt x="2743200" y="5486400"/>
                  </a:cubicBezTo>
                  <a:cubicBezTo>
                    <a:pt x="1228217" y="5486400"/>
                    <a:pt x="0" y="4258183"/>
                    <a:pt x="0" y="274320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60120" y="891540"/>
            <a:ext cx="960120" cy="960120"/>
            <a:chOff x="0" y="0"/>
            <a:chExt cx="1280160" cy="1280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65733" y="891540"/>
            <a:ext cx="748894" cy="748894"/>
            <a:chOff x="0" y="0"/>
            <a:chExt cx="998525" cy="998525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998474" cy="998474"/>
            </a:xfrm>
            <a:custGeom>
              <a:avLst/>
              <a:gdLst/>
              <a:ahLst/>
              <a:cxnLst/>
              <a:rect r="r" b="b" t="t" l="l"/>
              <a:pathLst>
                <a:path h="998474" w="998474">
                  <a:moveTo>
                    <a:pt x="0" y="0"/>
                  </a:moveTo>
                  <a:lnTo>
                    <a:pt x="998474" y="0"/>
                  </a:lnTo>
                  <a:lnTo>
                    <a:pt x="998474" y="998474"/>
                  </a:lnTo>
                  <a:lnTo>
                    <a:pt x="0" y="998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5" b="-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125980" y="891540"/>
            <a:ext cx="8229600" cy="685800"/>
            <a:chOff x="0" y="0"/>
            <a:chExt cx="10972800" cy="9144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914400"/>
            </a:xfrm>
            <a:custGeom>
              <a:avLst/>
              <a:gdLst/>
              <a:ahLst/>
              <a:cxnLst/>
              <a:rect r="r" b="b" t="t" l="l"/>
              <a:pathLst>
                <a:path h="91440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004E8B">
                <a:alpha val="0"/>
              </a:srgbClr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097280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450">
                  <a:solidFill>
                    <a:srgbClr val="004E8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SUPPORTAI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60120" y="3566160"/>
            <a:ext cx="14401800" cy="1783080"/>
            <a:chOff x="0" y="0"/>
            <a:chExt cx="19202400" cy="23774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9202400" cy="2377440"/>
            </a:xfrm>
            <a:custGeom>
              <a:avLst/>
              <a:gdLst/>
              <a:ahLst/>
              <a:cxnLst/>
              <a:rect r="r" b="b" t="t" l="l"/>
              <a:pathLst>
                <a:path h="237744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379" r="0" b="-107379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19202400" cy="23964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720"/>
                </a:lnSpc>
              </a:pPr>
              <a:r>
                <a:rPr lang="en-US" sz="8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SupportAI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60120" y="5143500"/>
            <a:ext cx="13716000" cy="1234440"/>
            <a:chOff x="0" y="0"/>
            <a:chExt cx="18288000" cy="16459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82880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6500" r="0" b="-16650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18288000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>
                  <a:solidFill>
                    <a:srgbClr val="CFE2D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Plataforma inteligente de atención y soporte mediante asistente</a:t>
              </a:r>
            </a:p>
            <a:p>
              <a:pPr algn="l">
                <a:lnSpc>
                  <a:spcPts val="3060"/>
                </a:lnSpc>
              </a:pPr>
              <a:r>
                <a:rPr lang="en-US" sz="2550">
                  <a:solidFill>
                    <a:srgbClr val="CFE2D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conversacional basado en inteligencia artificial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60120" y="6858000"/>
            <a:ext cx="10972800" cy="548640"/>
            <a:chOff x="0" y="0"/>
            <a:chExt cx="14630400" cy="731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630400" cy="731520"/>
            </a:xfrm>
            <a:custGeom>
              <a:avLst/>
              <a:gdLst/>
              <a:ahLst/>
              <a:cxnLst/>
              <a:rect r="r" b="b" t="t" l="l"/>
              <a:pathLst>
                <a:path h="73152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1463040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D98E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Fase 1 — Definición del Proyecto APT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60120" y="7882890"/>
            <a:ext cx="12344400" cy="480060"/>
            <a:chOff x="0" y="0"/>
            <a:chExt cx="16459200" cy="6400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459200" cy="640080"/>
            </a:xfrm>
            <a:custGeom>
              <a:avLst/>
              <a:gdLst/>
              <a:ahLst/>
              <a:cxnLst/>
              <a:rect r="r" b="b" t="t" l="l"/>
              <a:pathLst>
                <a:path h="64008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043" r="0" b="-45104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4592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9FB3A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Benjamin Vega - Nicolas Raguileo - Martin Irarrazabal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3716000" cy="411480"/>
            <a:chOff x="0" y="0"/>
            <a:chExt cx="182880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48640"/>
                  </a:lnTo>
                  <a:lnTo>
                    <a:pt x="0" y="548640"/>
                  </a:lnTo>
                  <a:close/>
                </a:path>
              </a:pathLst>
            </a:custGeom>
            <a:solidFill>
              <a:srgbClr val="004E8B">
                <a:alpha val="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8288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004E8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DATOS DEL DOCUMENTO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960120"/>
            <a:ext cx="16459200" cy="960120"/>
            <a:chOff x="0" y="0"/>
            <a:chExt cx="21945600" cy="1280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945600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Información del proyecto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2743200"/>
            <a:ext cx="754380" cy="754380"/>
            <a:chOff x="0" y="0"/>
            <a:chExt cx="1005840" cy="1005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3102" y="2826182"/>
            <a:ext cx="588416" cy="588416"/>
            <a:chOff x="0" y="0"/>
            <a:chExt cx="784555" cy="784555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784606" cy="784606"/>
            </a:xfrm>
            <a:custGeom>
              <a:avLst/>
              <a:gdLst/>
              <a:ahLst/>
              <a:cxnLst/>
              <a:rect r="r" b="b" t="t" l="l"/>
              <a:pathLst>
                <a:path h="784606" w="784606">
                  <a:moveTo>
                    <a:pt x="0" y="0"/>
                  </a:moveTo>
                  <a:lnTo>
                    <a:pt x="784606" y="0"/>
                  </a:lnTo>
                  <a:lnTo>
                    <a:pt x="784606" y="784606"/>
                  </a:lnTo>
                  <a:lnTo>
                    <a:pt x="0" y="78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6" b="6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057400" y="2715768"/>
            <a:ext cx="4937760" cy="411480"/>
            <a:chOff x="0" y="0"/>
            <a:chExt cx="6583680" cy="5486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65836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5C666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Nombre del proyecto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057400" y="3072384"/>
            <a:ext cx="11658600" cy="480060"/>
            <a:chOff x="0" y="0"/>
            <a:chExt cx="15544800" cy="640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5544800" cy="640080"/>
            </a:xfrm>
            <a:custGeom>
              <a:avLst/>
              <a:gdLst/>
              <a:ahLst/>
              <a:cxnLst/>
              <a:rect r="r" b="b" t="t" l="l"/>
              <a:pathLst>
                <a:path h="64008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3208" r="0" b="-42320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5544800" cy="6972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SupportAI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60120" y="4142232"/>
            <a:ext cx="754380" cy="754380"/>
            <a:chOff x="0" y="0"/>
            <a:chExt cx="1005840" cy="100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43102" y="4225214"/>
            <a:ext cx="588416" cy="588416"/>
            <a:chOff x="0" y="0"/>
            <a:chExt cx="784555" cy="784555"/>
          </a:xfrm>
        </p:grpSpPr>
        <p:sp>
          <p:nvSpPr>
            <p:cNvPr name="Freeform 21" id="21" descr="preencoded.png"/>
            <p:cNvSpPr/>
            <p:nvPr/>
          </p:nvSpPr>
          <p:spPr>
            <a:xfrm flipH="false" flipV="false" rot="0">
              <a:off x="0" y="0"/>
              <a:ext cx="784606" cy="784606"/>
            </a:xfrm>
            <a:custGeom>
              <a:avLst/>
              <a:gdLst/>
              <a:ahLst/>
              <a:cxnLst/>
              <a:rect r="r" b="b" t="t" l="l"/>
              <a:pathLst>
                <a:path h="784606" w="784606">
                  <a:moveTo>
                    <a:pt x="0" y="0"/>
                  </a:moveTo>
                  <a:lnTo>
                    <a:pt x="784606" y="0"/>
                  </a:lnTo>
                  <a:lnTo>
                    <a:pt x="784606" y="784606"/>
                  </a:lnTo>
                  <a:lnTo>
                    <a:pt x="0" y="78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6" b="6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2057400" y="4114800"/>
            <a:ext cx="4937760" cy="411480"/>
            <a:chOff x="0" y="0"/>
            <a:chExt cx="658368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65836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5C666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Grupo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2057400" y="4471416"/>
            <a:ext cx="11658600" cy="480060"/>
            <a:chOff x="0" y="0"/>
            <a:chExt cx="15544800" cy="6400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5544800" cy="640080"/>
            </a:xfrm>
            <a:custGeom>
              <a:avLst/>
              <a:gdLst/>
              <a:ahLst/>
              <a:cxnLst/>
              <a:rect r="r" b="b" t="t" l="l"/>
              <a:pathLst>
                <a:path h="64008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3208" r="0" b="-423208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15544800" cy="6972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N°05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60120" y="5541264"/>
            <a:ext cx="754380" cy="754380"/>
            <a:chOff x="0" y="0"/>
            <a:chExt cx="1005840" cy="10058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043102" y="5624246"/>
            <a:ext cx="588416" cy="588416"/>
            <a:chOff x="0" y="0"/>
            <a:chExt cx="784555" cy="784555"/>
          </a:xfrm>
        </p:grpSpPr>
        <p:sp>
          <p:nvSpPr>
            <p:cNvPr name="Freeform 31" id="31" descr="preencoded.png"/>
            <p:cNvSpPr/>
            <p:nvPr/>
          </p:nvSpPr>
          <p:spPr>
            <a:xfrm flipH="false" flipV="false" rot="0">
              <a:off x="0" y="0"/>
              <a:ext cx="784606" cy="784606"/>
            </a:xfrm>
            <a:custGeom>
              <a:avLst/>
              <a:gdLst/>
              <a:ahLst/>
              <a:cxnLst/>
              <a:rect r="r" b="b" t="t" l="l"/>
              <a:pathLst>
                <a:path h="784606" w="784606">
                  <a:moveTo>
                    <a:pt x="0" y="0"/>
                  </a:moveTo>
                  <a:lnTo>
                    <a:pt x="784606" y="0"/>
                  </a:lnTo>
                  <a:lnTo>
                    <a:pt x="784606" y="784606"/>
                  </a:lnTo>
                  <a:lnTo>
                    <a:pt x="0" y="78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6" b="6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2057400" y="5513832"/>
            <a:ext cx="4937760" cy="411480"/>
            <a:chOff x="0" y="0"/>
            <a:chExt cx="65836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65836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5C666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Periodo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5870448"/>
            <a:ext cx="11658600" cy="480060"/>
            <a:chOff x="0" y="0"/>
            <a:chExt cx="15544800" cy="64008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5544800" cy="640080"/>
            </a:xfrm>
            <a:custGeom>
              <a:avLst/>
              <a:gdLst/>
              <a:ahLst/>
              <a:cxnLst/>
              <a:rect r="r" b="b" t="t" l="l"/>
              <a:pathLst>
                <a:path h="64008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3208" r="0" b="-423208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57150"/>
              <a:ext cx="15544800" cy="6972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13 ago — 26 nov 2026 (15 semanas)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60120" y="6940296"/>
            <a:ext cx="754380" cy="754380"/>
            <a:chOff x="0" y="0"/>
            <a:chExt cx="1005840" cy="10058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043102" y="7023278"/>
            <a:ext cx="588416" cy="588416"/>
            <a:chOff x="0" y="0"/>
            <a:chExt cx="784555" cy="784555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784606" cy="784606"/>
            </a:xfrm>
            <a:custGeom>
              <a:avLst/>
              <a:gdLst/>
              <a:ahLst/>
              <a:cxnLst/>
              <a:rect r="r" b="b" t="t" l="l"/>
              <a:pathLst>
                <a:path h="784606" w="784606">
                  <a:moveTo>
                    <a:pt x="0" y="0"/>
                  </a:moveTo>
                  <a:lnTo>
                    <a:pt x="784606" y="0"/>
                  </a:lnTo>
                  <a:lnTo>
                    <a:pt x="784606" y="784606"/>
                  </a:lnTo>
                  <a:lnTo>
                    <a:pt x="0" y="78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6" b="6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2057400" y="6912864"/>
            <a:ext cx="4937760" cy="411480"/>
            <a:chOff x="0" y="0"/>
            <a:chExt cx="6583680" cy="5486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65836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5C666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Áreas de desempeño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2057400" y="7269480"/>
            <a:ext cx="11658600" cy="480060"/>
            <a:chOff x="0" y="0"/>
            <a:chExt cx="15544800" cy="64008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5544800" cy="640080"/>
            </a:xfrm>
            <a:custGeom>
              <a:avLst/>
              <a:gdLst/>
              <a:ahLst/>
              <a:cxnLst/>
              <a:rect r="r" b="b" t="t" l="l"/>
              <a:pathLst>
                <a:path h="64008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3208" r="0" b="-423208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57150"/>
              <a:ext cx="15544800" cy="6972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Desarrollo de Software · IA · Bases de Datos · Seguridad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3167360" y="2674620"/>
            <a:ext cx="4251960" cy="5554980"/>
            <a:chOff x="0" y="0"/>
            <a:chExt cx="5669280" cy="74066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669280" cy="7406640"/>
            </a:xfrm>
            <a:custGeom>
              <a:avLst/>
              <a:gdLst/>
              <a:ahLst/>
              <a:cxnLst/>
              <a:rect r="r" b="b" t="t" l="l"/>
              <a:pathLst>
                <a:path h="7406640" w="566928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5449824" y="0"/>
                  </a:lnTo>
                  <a:cubicBezTo>
                    <a:pt x="5570982" y="0"/>
                    <a:pt x="5669280" y="98298"/>
                    <a:pt x="5669280" y="219456"/>
                  </a:cubicBezTo>
                  <a:lnTo>
                    <a:pt x="5669280" y="7187184"/>
                  </a:lnTo>
                  <a:cubicBezTo>
                    <a:pt x="5669280" y="7308342"/>
                    <a:pt x="5570982" y="7406640"/>
                    <a:pt x="5449824" y="7406640"/>
                  </a:cubicBezTo>
                  <a:lnTo>
                    <a:pt x="219456" y="7406640"/>
                  </a:lnTo>
                  <a:cubicBezTo>
                    <a:pt x="98298" y="7406640"/>
                    <a:pt x="0" y="7308342"/>
                    <a:pt x="0" y="7187184"/>
                  </a:cubicBezTo>
                  <a:close/>
                </a:path>
              </a:pathLst>
            </a:custGeom>
            <a:solidFill>
              <a:srgbClr val="001D34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3578840" y="3017520"/>
            <a:ext cx="3566160" cy="411480"/>
            <a:chOff x="0" y="0"/>
            <a:chExt cx="47548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754880" cy="548640"/>
            </a:xfrm>
            <a:custGeom>
              <a:avLst/>
              <a:gdLst/>
              <a:ahLst/>
              <a:cxnLst/>
              <a:rect r="r" b="b" t="t" l="l"/>
              <a:pathLst>
                <a:path h="548640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8870" r="0" b="-11887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47548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225">
                  <a:solidFill>
                    <a:srgbClr val="D98E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COMPETENCIAS CLAVE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13670280" y="3642360"/>
            <a:ext cx="3383280" cy="4335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Diseño de soluciones informáticas integrales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Construcción de modelos de datos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Arquitectura de soluciones sistémicas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Resolución de vulnerabilidades de seguridad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Certificación de productos y procesos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C666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3716000" cy="411480"/>
            <a:chOff x="0" y="0"/>
            <a:chExt cx="182880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501" r="0" b="-59950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8288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004E8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INTRODUCCIÓN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960120"/>
            <a:ext cx="16459200" cy="960120"/>
            <a:chOff x="0" y="0"/>
            <a:chExt cx="21945600" cy="1280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945600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Del problema al proyecto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50595" y="2665095"/>
            <a:ext cx="5093970" cy="5368290"/>
            <a:chOff x="0" y="0"/>
            <a:chExt cx="6791960" cy="71577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791961" cy="7157720"/>
            </a:xfrm>
            <a:custGeom>
              <a:avLst/>
              <a:gdLst/>
              <a:ahLst/>
              <a:cxnLst/>
              <a:rect r="r" b="b" t="t" l="l"/>
              <a:pathLst>
                <a:path h="7157720" w="6791961">
                  <a:moveTo>
                    <a:pt x="0" y="183642"/>
                  </a:moveTo>
                  <a:cubicBezTo>
                    <a:pt x="0" y="82169"/>
                    <a:pt x="82169" y="0"/>
                    <a:pt x="183642" y="0"/>
                  </a:cubicBezTo>
                  <a:lnTo>
                    <a:pt x="6608318" y="0"/>
                  </a:lnTo>
                  <a:cubicBezTo>
                    <a:pt x="6709664" y="0"/>
                    <a:pt x="6791961" y="82169"/>
                    <a:pt x="6791961" y="183642"/>
                  </a:cubicBezTo>
                  <a:lnTo>
                    <a:pt x="6791961" y="6974078"/>
                  </a:lnTo>
                  <a:cubicBezTo>
                    <a:pt x="6791961" y="7075424"/>
                    <a:pt x="6709791" y="7157720"/>
                    <a:pt x="6608318" y="7157720"/>
                  </a:cubicBezTo>
                  <a:lnTo>
                    <a:pt x="183642" y="7157720"/>
                  </a:lnTo>
                  <a:cubicBezTo>
                    <a:pt x="82169" y="7157720"/>
                    <a:pt x="0" y="7075551"/>
                    <a:pt x="0" y="697407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71600" y="3086100"/>
            <a:ext cx="822960" cy="822960"/>
            <a:chOff x="0" y="0"/>
            <a:chExt cx="1097280" cy="10972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462126" y="3176626"/>
            <a:ext cx="641909" cy="641909"/>
            <a:chOff x="0" y="0"/>
            <a:chExt cx="855878" cy="855878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855853" cy="855853"/>
            </a:xfrm>
            <a:custGeom>
              <a:avLst/>
              <a:gdLst/>
              <a:ahLst/>
              <a:cxnLst/>
              <a:rect r="r" b="b" t="t" l="l"/>
              <a:pathLst>
                <a:path h="855853" w="855853">
                  <a:moveTo>
                    <a:pt x="0" y="0"/>
                  </a:moveTo>
                  <a:lnTo>
                    <a:pt x="855853" y="0"/>
                  </a:lnTo>
                  <a:lnTo>
                    <a:pt x="855853" y="855853"/>
                  </a:lnTo>
                  <a:lnTo>
                    <a:pt x="0" y="855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2" b="-2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1600" y="4114800"/>
            <a:ext cx="4251960" cy="548640"/>
            <a:chOff x="0" y="0"/>
            <a:chExt cx="5669280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9280" cy="731520"/>
            </a:xfrm>
            <a:custGeom>
              <a:avLst/>
              <a:gdLst/>
              <a:ahLst/>
              <a:cxnLst/>
              <a:rect r="r" b="b" t="t" l="l"/>
              <a:pathLst>
                <a:path h="731520" w="5669280">
                  <a:moveTo>
                    <a:pt x="0" y="0"/>
                  </a:moveTo>
                  <a:lnTo>
                    <a:pt x="5669280" y="0"/>
                  </a:lnTo>
                  <a:lnTo>
                    <a:pt x="5669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009" r="0" b="-10100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566928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Contexto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463040" y="4730115"/>
            <a:ext cx="4069080" cy="2973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Las organizaciones reciben un alto volumen de consultas repetitivas a través de canales tradicionales de atención.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505575" y="2665095"/>
            <a:ext cx="5093970" cy="5368290"/>
            <a:chOff x="0" y="0"/>
            <a:chExt cx="6791960" cy="71577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791961" cy="7157720"/>
            </a:xfrm>
            <a:custGeom>
              <a:avLst/>
              <a:gdLst/>
              <a:ahLst/>
              <a:cxnLst/>
              <a:rect r="r" b="b" t="t" l="l"/>
              <a:pathLst>
                <a:path h="7157720" w="6791961">
                  <a:moveTo>
                    <a:pt x="0" y="183642"/>
                  </a:moveTo>
                  <a:cubicBezTo>
                    <a:pt x="0" y="82169"/>
                    <a:pt x="82169" y="0"/>
                    <a:pt x="183642" y="0"/>
                  </a:cubicBezTo>
                  <a:lnTo>
                    <a:pt x="6608318" y="0"/>
                  </a:lnTo>
                  <a:cubicBezTo>
                    <a:pt x="6709664" y="0"/>
                    <a:pt x="6791961" y="82169"/>
                    <a:pt x="6791961" y="183642"/>
                  </a:cubicBezTo>
                  <a:lnTo>
                    <a:pt x="6791961" y="6974078"/>
                  </a:lnTo>
                  <a:cubicBezTo>
                    <a:pt x="6791961" y="7075424"/>
                    <a:pt x="6709791" y="7157720"/>
                    <a:pt x="6608318" y="7157720"/>
                  </a:cubicBezTo>
                  <a:lnTo>
                    <a:pt x="183642" y="7157720"/>
                  </a:lnTo>
                  <a:cubicBezTo>
                    <a:pt x="82169" y="7157720"/>
                    <a:pt x="0" y="7075551"/>
                    <a:pt x="0" y="697407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6926580" y="3086100"/>
            <a:ext cx="822960" cy="822960"/>
            <a:chOff x="0" y="0"/>
            <a:chExt cx="1097280" cy="10972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7017106" y="3176626"/>
            <a:ext cx="641909" cy="641909"/>
            <a:chOff x="0" y="0"/>
            <a:chExt cx="855878" cy="855878"/>
          </a:xfrm>
        </p:grpSpPr>
        <p:sp>
          <p:nvSpPr>
            <p:cNvPr name="Freeform 23" id="23" descr="preencoded.png"/>
            <p:cNvSpPr/>
            <p:nvPr/>
          </p:nvSpPr>
          <p:spPr>
            <a:xfrm flipH="false" flipV="false" rot="0">
              <a:off x="0" y="0"/>
              <a:ext cx="855853" cy="855853"/>
            </a:xfrm>
            <a:custGeom>
              <a:avLst/>
              <a:gdLst/>
              <a:ahLst/>
              <a:cxnLst/>
              <a:rect r="r" b="b" t="t" l="l"/>
              <a:pathLst>
                <a:path h="855853" w="855853">
                  <a:moveTo>
                    <a:pt x="0" y="0"/>
                  </a:moveTo>
                  <a:lnTo>
                    <a:pt x="855853" y="0"/>
                  </a:lnTo>
                  <a:lnTo>
                    <a:pt x="855853" y="855853"/>
                  </a:lnTo>
                  <a:lnTo>
                    <a:pt x="0" y="855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2" b="-2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926580" y="4114800"/>
            <a:ext cx="4251960" cy="548640"/>
            <a:chOff x="0" y="0"/>
            <a:chExt cx="5669280" cy="731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669280" cy="731520"/>
            </a:xfrm>
            <a:custGeom>
              <a:avLst/>
              <a:gdLst/>
              <a:ahLst/>
              <a:cxnLst/>
              <a:rect r="r" b="b" t="t" l="l"/>
              <a:pathLst>
                <a:path h="731520" w="5669280">
                  <a:moveTo>
                    <a:pt x="0" y="0"/>
                  </a:moveTo>
                  <a:lnTo>
                    <a:pt x="5669280" y="0"/>
                  </a:lnTo>
                  <a:lnTo>
                    <a:pt x="5669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009" r="0" b="-10100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566928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Objetivo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7018020" y="4730115"/>
            <a:ext cx="4069080" cy="2973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Diseñar e implementar una plataforma con un asistente de IA que resuelva consultas automáticamente y escale a un humano cuando corresponda.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060555" y="2665095"/>
            <a:ext cx="5093970" cy="5368290"/>
            <a:chOff x="0" y="0"/>
            <a:chExt cx="6791960" cy="71577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791961" cy="7157720"/>
            </a:xfrm>
            <a:custGeom>
              <a:avLst/>
              <a:gdLst/>
              <a:ahLst/>
              <a:cxnLst/>
              <a:rect r="r" b="b" t="t" l="l"/>
              <a:pathLst>
                <a:path h="7157720" w="6791961">
                  <a:moveTo>
                    <a:pt x="0" y="183642"/>
                  </a:moveTo>
                  <a:cubicBezTo>
                    <a:pt x="0" y="82169"/>
                    <a:pt x="82169" y="0"/>
                    <a:pt x="183642" y="0"/>
                  </a:cubicBezTo>
                  <a:lnTo>
                    <a:pt x="6608318" y="0"/>
                  </a:lnTo>
                  <a:cubicBezTo>
                    <a:pt x="6709664" y="0"/>
                    <a:pt x="6791961" y="82169"/>
                    <a:pt x="6791961" y="183642"/>
                  </a:cubicBezTo>
                  <a:lnTo>
                    <a:pt x="6791961" y="6974078"/>
                  </a:lnTo>
                  <a:cubicBezTo>
                    <a:pt x="6791961" y="7075424"/>
                    <a:pt x="6709791" y="7157720"/>
                    <a:pt x="6608318" y="7157720"/>
                  </a:cubicBezTo>
                  <a:lnTo>
                    <a:pt x="183642" y="7157720"/>
                  </a:lnTo>
                  <a:cubicBezTo>
                    <a:pt x="82169" y="7157720"/>
                    <a:pt x="0" y="7075551"/>
                    <a:pt x="0" y="697407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2481560" y="3086100"/>
            <a:ext cx="822960" cy="822960"/>
            <a:chOff x="0" y="0"/>
            <a:chExt cx="1097280" cy="10972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2572086" y="3176626"/>
            <a:ext cx="641909" cy="641909"/>
            <a:chOff x="0" y="0"/>
            <a:chExt cx="855878" cy="855878"/>
          </a:xfrm>
        </p:grpSpPr>
        <p:sp>
          <p:nvSpPr>
            <p:cNvPr name="Freeform 33" id="33" descr="preencoded.png"/>
            <p:cNvSpPr/>
            <p:nvPr/>
          </p:nvSpPr>
          <p:spPr>
            <a:xfrm flipH="false" flipV="false" rot="0">
              <a:off x="0" y="0"/>
              <a:ext cx="855853" cy="855853"/>
            </a:xfrm>
            <a:custGeom>
              <a:avLst/>
              <a:gdLst/>
              <a:ahLst/>
              <a:cxnLst/>
              <a:rect r="r" b="b" t="t" l="l"/>
              <a:pathLst>
                <a:path h="855853" w="855853">
                  <a:moveTo>
                    <a:pt x="0" y="0"/>
                  </a:moveTo>
                  <a:lnTo>
                    <a:pt x="855853" y="0"/>
                  </a:lnTo>
                  <a:lnTo>
                    <a:pt x="855853" y="855853"/>
                  </a:lnTo>
                  <a:lnTo>
                    <a:pt x="0" y="855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-2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2481560" y="4114800"/>
            <a:ext cx="4251960" cy="548640"/>
            <a:chOff x="0" y="0"/>
            <a:chExt cx="5669280" cy="7315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669280" cy="731520"/>
            </a:xfrm>
            <a:custGeom>
              <a:avLst/>
              <a:gdLst/>
              <a:ahLst/>
              <a:cxnLst/>
              <a:rect r="r" b="b" t="t" l="l"/>
              <a:pathLst>
                <a:path h="731520" w="5669280">
                  <a:moveTo>
                    <a:pt x="0" y="0"/>
                  </a:moveTo>
                  <a:lnTo>
                    <a:pt x="5669280" y="0"/>
                  </a:lnTo>
                  <a:lnTo>
                    <a:pt x="5669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009" r="0" b="-101009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566928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Alcance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2573000" y="4730115"/>
            <a:ext cx="4069080" cy="2973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Plataforma web, motor RAG, control de confianza, tickets, trazabilidad, panel administrativo, seguridad y pruebas.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C666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3716000" cy="411480"/>
            <a:chOff x="0" y="0"/>
            <a:chExt cx="182880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501" r="0" b="-59950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8288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004E8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ANÁLISIS PRELIMINAR DEL CASO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960120"/>
            <a:ext cx="16459200" cy="960120"/>
            <a:chOff x="0" y="0"/>
            <a:chExt cx="21945600" cy="1280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945600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El problema, con evidencia real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2606040"/>
            <a:ext cx="16184880" cy="685800"/>
            <a:chOff x="0" y="0"/>
            <a:chExt cx="21579840" cy="914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579839" cy="914400"/>
            </a:xfrm>
            <a:custGeom>
              <a:avLst/>
              <a:gdLst/>
              <a:ahLst/>
              <a:cxnLst/>
              <a:rect r="r" b="b" t="t" l="l"/>
              <a:pathLst>
                <a:path h="914400" w="21579839">
                  <a:moveTo>
                    <a:pt x="0" y="0"/>
                  </a:moveTo>
                  <a:lnTo>
                    <a:pt x="21579839" y="0"/>
                  </a:lnTo>
                  <a:lnTo>
                    <a:pt x="21579839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846" r="0" b="-409846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2157984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Los equipos de atención enfrentan una presión creciente por volumen de consultas y expectativas de respuesta cada vez más rápidas: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60120" y="3703320"/>
            <a:ext cx="5143500" cy="3977640"/>
            <a:chOff x="0" y="0"/>
            <a:chExt cx="6858000" cy="5303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58000" cy="5303520"/>
            </a:xfrm>
            <a:custGeom>
              <a:avLst/>
              <a:gdLst/>
              <a:ahLst/>
              <a:cxnLst/>
              <a:rect r="r" b="b" t="t" l="l"/>
              <a:pathLst>
                <a:path h="5303520" w="685800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675120" y="0"/>
                  </a:lnTo>
                  <a:cubicBezTo>
                    <a:pt x="6776085" y="0"/>
                    <a:pt x="6858000" y="81915"/>
                    <a:pt x="6858000" y="182880"/>
                  </a:cubicBezTo>
                  <a:lnTo>
                    <a:pt x="6858000" y="5120640"/>
                  </a:lnTo>
                  <a:cubicBezTo>
                    <a:pt x="6858000" y="5221605"/>
                    <a:pt x="6776085" y="5303520"/>
                    <a:pt x="6675120" y="5303520"/>
                  </a:cubicBezTo>
                  <a:lnTo>
                    <a:pt x="182880" y="5303520"/>
                  </a:lnTo>
                  <a:cubicBezTo>
                    <a:pt x="81915" y="5303520"/>
                    <a:pt x="0" y="5221605"/>
                    <a:pt x="0" y="5120640"/>
                  </a:cubicBezTo>
                  <a:close/>
                </a:path>
              </a:pathLst>
            </a:custGeom>
            <a:solidFill>
              <a:srgbClr val="001D34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234440" y="4046220"/>
            <a:ext cx="4594860" cy="1508760"/>
            <a:chOff x="0" y="0"/>
            <a:chExt cx="6126480" cy="20116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126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26480">
                  <a:moveTo>
                    <a:pt x="0" y="0"/>
                  </a:moveTo>
                  <a:lnTo>
                    <a:pt x="6126480" y="0"/>
                  </a:lnTo>
                  <a:lnTo>
                    <a:pt x="6126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340" r="0" b="-934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6126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280"/>
                </a:lnSpc>
              </a:pPr>
              <a:r>
                <a:rPr lang="en-US" sz="6900" b="true">
                  <a:solidFill>
                    <a:srgbClr val="D98E0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78%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531620" y="5562600"/>
            <a:ext cx="4000500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87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 los consumidores compra al primer negocio que le responde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583680" y="3703320"/>
            <a:ext cx="5143500" cy="3977640"/>
            <a:chOff x="0" y="0"/>
            <a:chExt cx="6858000" cy="5303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58000" cy="5303520"/>
            </a:xfrm>
            <a:custGeom>
              <a:avLst/>
              <a:gdLst/>
              <a:ahLst/>
              <a:cxnLst/>
              <a:rect r="r" b="b" t="t" l="l"/>
              <a:pathLst>
                <a:path h="5303520" w="685800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675120" y="0"/>
                  </a:lnTo>
                  <a:cubicBezTo>
                    <a:pt x="6776085" y="0"/>
                    <a:pt x="6858000" y="81915"/>
                    <a:pt x="6858000" y="182880"/>
                  </a:cubicBezTo>
                  <a:lnTo>
                    <a:pt x="6858000" y="5120640"/>
                  </a:lnTo>
                  <a:cubicBezTo>
                    <a:pt x="6858000" y="5221605"/>
                    <a:pt x="6776085" y="5303520"/>
                    <a:pt x="6675120" y="5303520"/>
                  </a:cubicBezTo>
                  <a:lnTo>
                    <a:pt x="182880" y="5303520"/>
                  </a:lnTo>
                  <a:cubicBezTo>
                    <a:pt x="81915" y="5303520"/>
                    <a:pt x="0" y="5221605"/>
                    <a:pt x="0" y="5120640"/>
                  </a:cubicBezTo>
                  <a:close/>
                </a:path>
              </a:pathLst>
            </a:custGeom>
            <a:solidFill>
              <a:srgbClr val="001D34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6858000" y="4046220"/>
            <a:ext cx="4594860" cy="1508760"/>
            <a:chOff x="0" y="0"/>
            <a:chExt cx="6126480" cy="20116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126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26480">
                  <a:moveTo>
                    <a:pt x="0" y="0"/>
                  </a:moveTo>
                  <a:lnTo>
                    <a:pt x="6126480" y="0"/>
                  </a:lnTo>
                  <a:lnTo>
                    <a:pt x="6126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340" r="0" b="-934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126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280"/>
                </a:lnSpc>
              </a:pPr>
              <a:r>
                <a:rPr lang="en-US" sz="6900" b="true">
                  <a:solidFill>
                    <a:srgbClr val="D98E0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21.9h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7155180" y="5562600"/>
            <a:ext cx="4000500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87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tiempo promedio de resolución en canales atendidos por humanos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207240" y="3703320"/>
            <a:ext cx="5143500" cy="3977640"/>
            <a:chOff x="0" y="0"/>
            <a:chExt cx="6858000" cy="53035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858000" cy="5303520"/>
            </a:xfrm>
            <a:custGeom>
              <a:avLst/>
              <a:gdLst/>
              <a:ahLst/>
              <a:cxnLst/>
              <a:rect r="r" b="b" t="t" l="l"/>
              <a:pathLst>
                <a:path h="5303520" w="685800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675120" y="0"/>
                  </a:lnTo>
                  <a:cubicBezTo>
                    <a:pt x="6776085" y="0"/>
                    <a:pt x="6858000" y="81915"/>
                    <a:pt x="6858000" y="182880"/>
                  </a:cubicBezTo>
                  <a:lnTo>
                    <a:pt x="6858000" y="5120640"/>
                  </a:lnTo>
                  <a:cubicBezTo>
                    <a:pt x="6858000" y="5221605"/>
                    <a:pt x="6776085" y="5303520"/>
                    <a:pt x="6675120" y="5303520"/>
                  </a:cubicBezTo>
                  <a:lnTo>
                    <a:pt x="182880" y="5303520"/>
                  </a:lnTo>
                  <a:cubicBezTo>
                    <a:pt x="81915" y="5303520"/>
                    <a:pt x="0" y="5221605"/>
                    <a:pt x="0" y="5120640"/>
                  </a:cubicBezTo>
                  <a:close/>
                </a:path>
              </a:pathLst>
            </a:custGeom>
            <a:solidFill>
              <a:srgbClr val="001D3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2481560" y="4046220"/>
            <a:ext cx="4594860" cy="1508760"/>
            <a:chOff x="0" y="0"/>
            <a:chExt cx="6126480" cy="20116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126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26480">
                  <a:moveTo>
                    <a:pt x="0" y="0"/>
                  </a:moveTo>
                  <a:lnTo>
                    <a:pt x="6126480" y="0"/>
                  </a:lnTo>
                  <a:lnTo>
                    <a:pt x="6126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340" r="0" b="-934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6126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280"/>
                </a:lnSpc>
              </a:pPr>
              <a:r>
                <a:rPr lang="en-US" sz="6900" b="true">
                  <a:solidFill>
                    <a:srgbClr val="D98E0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70%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2778740" y="5562600"/>
            <a:ext cx="4000500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87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 las consultas de soporte son repetitivas y automatizables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C666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3716000" cy="411480"/>
            <a:chOff x="0" y="0"/>
            <a:chExt cx="182880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501" r="0" b="-59950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8288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004E8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DEFINICIÓN DEL PRODUCTO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960120"/>
            <a:ext cx="16459200" cy="960120"/>
            <a:chOff x="0" y="0"/>
            <a:chExt cx="21945600" cy="1280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945600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Objetivo general y alcance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2674620"/>
            <a:ext cx="16322040" cy="1851660"/>
            <a:chOff x="0" y="0"/>
            <a:chExt cx="21762720" cy="24688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762720" cy="2468880"/>
            </a:xfrm>
            <a:custGeom>
              <a:avLst/>
              <a:gdLst/>
              <a:ahLst/>
              <a:cxnLst/>
              <a:rect r="r" b="b" t="t" l="l"/>
              <a:pathLst>
                <a:path h="2468880" w="217627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1579839" y="0"/>
                  </a:lnTo>
                  <a:cubicBezTo>
                    <a:pt x="21680804" y="0"/>
                    <a:pt x="21762720" y="81915"/>
                    <a:pt x="21762720" y="182880"/>
                  </a:cubicBezTo>
                  <a:lnTo>
                    <a:pt x="21762720" y="2286000"/>
                  </a:lnTo>
                  <a:cubicBezTo>
                    <a:pt x="21762720" y="2386965"/>
                    <a:pt x="21680804" y="2468880"/>
                    <a:pt x="21579839" y="2468880"/>
                  </a:cubicBezTo>
                  <a:lnTo>
                    <a:pt x="182880" y="2468880"/>
                  </a:lnTo>
                  <a:cubicBezTo>
                    <a:pt x="81915" y="2468880"/>
                    <a:pt x="0" y="2386965"/>
                    <a:pt x="0" y="228600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371600" y="2880360"/>
            <a:ext cx="15499080" cy="1440180"/>
            <a:chOff x="0" y="0"/>
            <a:chExt cx="20665440" cy="19202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665439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665439">
                  <a:moveTo>
                    <a:pt x="0" y="0"/>
                  </a:moveTo>
                  <a:lnTo>
                    <a:pt x="20665439" y="0"/>
                  </a:lnTo>
                  <a:lnTo>
                    <a:pt x="20665439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9696" r="0" b="-159696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20665440" cy="196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Diseñar e implementar una plataforma web de atención y soporte con un asistente conversacional basado en IA, que resuelva consultas automáticamente y las escale a atención humana cuando sea necesario, garantizando trazabilidad, calidad y seguridad.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60120" y="4937760"/>
            <a:ext cx="6858000" cy="411480"/>
            <a:chOff x="0" y="0"/>
            <a:chExt cx="9144000" cy="548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1440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74750" r="0" b="-27475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9144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25">
                  <a:solidFill>
                    <a:srgbClr val="2F6E6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INCLUYE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60120" y="5404104"/>
            <a:ext cx="438912" cy="438912"/>
            <a:chOff x="0" y="0"/>
            <a:chExt cx="585216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2F6E63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008402" y="5452386"/>
            <a:ext cx="342348" cy="342348"/>
            <a:chOff x="0" y="0"/>
            <a:chExt cx="456463" cy="456463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456438" cy="456438"/>
            </a:xfrm>
            <a:custGeom>
              <a:avLst/>
              <a:gdLst/>
              <a:ahLst/>
              <a:cxnLst/>
              <a:rect r="r" b="b" t="t" l="l"/>
              <a:pathLst>
                <a:path h="456438" w="456438">
                  <a:moveTo>
                    <a:pt x="0" y="0"/>
                  </a:moveTo>
                  <a:lnTo>
                    <a:pt x="456438" y="0"/>
                  </a:lnTo>
                  <a:lnTo>
                    <a:pt x="456438" y="456438"/>
                  </a:lnTo>
                  <a:lnTo>
                    <a:pt x="0" y="456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5" b="-5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577340" y="5294376"/>
            <a:ext cx="6858000" cy="480060"/>
            <a:chOff x="0" y="0"/>
            <a:chExt cx="9144000" cy="6400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144000" cy="640080"/>
            </a:xfrm>
            <a:custGeom>
              <a:avLst/>
              <a:gdLst/>
              <a:ahLst/>
              <a:cxnLst/>
              <a:rect r="r" b="b" t="t" l="l"/>
              <a:pathLst>
                <a:path h="64008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8357" r="0" b="-228357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91440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Plataforma con 3 roles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60120" y="5980176"/>
            <a:ext cx="438912" cy="438912"/>
            <a:chOff x="0" y="0"/>
            <a:chExt cx="585216" cy="58521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2F6E63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08402" y="6028458"/>
            <a:ext cx="342348" cy="342348"/>
            <a:chOff x="0" y="0"/>
            <a:chExt cx="456463" cy="456463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456438" cy="456438"/>
            </a:xfrm>
            <a:custGeom>
              <a:avLst/>
              <a:gdLst/>
              <a:ahLst/>
              <a:cxnLst/>
              <a:rect r="r" b="b" t="t" l="l"/>
              <a:pathLst>
                <a:path h="456438" w="456438">
                  <a:moveTo>
                    <a:pt x="0" y="0"/>
                  </a:moveTo>
                  <a:lnTo>
                    <a:pt x="456438" y="0"/>
                  </a:lnTo>
                  <a:lnTo>
                    <a:pt x="456438" y="456438"/>
                  </a:lnTo>
                  <a:lnTo>
                    <a:pt x="0" y="456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5" b="-5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577340" y="5870448"/>
            <a:ext cx="6858000" cy="480060"/>
            <a:chOff x="0" y="0"/>
            <a:chExt cx="9144000" cy="64008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144000" cy="640080"/>
            </a:xfrm>
            <a:custGeom>
              <a:avLst/>
              <a:gdLst/>
              <a:ahLst/>
              <a:cxnLst/>
              <a:rect r="r" b="b" t="t" l="l"/>
              <a:pathLst>
                <a:path h="64008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8357" r="0" b="-22835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91440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Motor RAG + control de confianza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60120" y="6556248"/>
            <a:ext cx="438912" cy="438912"/>
            <a:chOff x="0" y="0"/>
            <a:chExt cx="585216" cy="58521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2F6E63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08402" y="6604530"/>
            <a:ext cx="342348" cy="342348"/>
            <a:chOff x="0" y="0"/>
            <a:chExt cx="456463" cy="456463"/>
          </a:xfrm>
        </p:grpSpPr>
        <p:sp>
          <p:nvSpPr>
            <p:cNvPr name="Freeform 33" id="33" descr="preencoded.png"/>
            <p:cNvSpPr/>
            <p:nvPr/>
          </p:nvSpPr>
          <p:spPr>
            <a:xfrm flipH="false" flipV="false" rot="0">
              <a:off x="0" y="0"/>
              <a:ext cx="456438" cy="456438"/>
            </a:xfrm>
            <a:custGeom>
              <a:avLst/>
              <a:gdLst/>
              <a:ahLst/>
              <a:cxnLst/>
              <a:rect r="r" b="b" t="t" l="l"/>
              <a:pathLst>
                <a:path h="456438" w="456438">
                  <a:moveTo>
                    <a:pt x="0" y="0"/>
                  </a:moveTo>
                  <a:lnTo>
                    <a:pt x="456438" y="0"/>
                  </a:lnTo>
                  <a:lnTo>
                    <a:pt x="456438" y="456438"/>
                  </a:lnTo>
                  <a:lnTo>
                    <a:pt x="0" y="456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5" b="-5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577340" y="6446520"/>
            <a:ext cx="6858000" cy="480060"/>
            <a:chOff x="0" y="0"/>
            <a:chExt cx="9144000" cy="640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9144000" cy="640080"/>
            </a:xfrm>
            <a:custGeom>
              <a:avLst/>
              <a:gdLst/>
              <a:ahLst/>
              <a:cxnLst/>
              <a:rect r="r" b="b" t="t" l="l"/>
              <a:pathLst>
                <a:path h="64008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8357" r="0" b="-228357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91440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Tickets y escalamiento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60120" y="7132320"/>
            <a:ext cx="438912" cy="438912"/>
            <a:chOff x="0" y="0"/>
            <a:chExt cx="585216" cy="58521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2F6E63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008402" y="7180602"/>
            <a:ext cx="342348" cy="342348"/>
            <a:chOff x="0" y="0"/>
            <a:chExt cx="456463" cy="456463"/>
          </a:xfrm>
        </p:grpSpPr>
        <p:sp>
          <p:nvSpPr>
            <p:cNvPr name="Freeform 40" id="40" descr="preencoded.png"/>
            <p:cNvSpPr/>
            <p:nvPr/>
          </p:nvSpPr>
          <p:spPr>
            <a:xfrm flipH="false" flipV="false" rot="0">
              <a:off x="0" y="0"/>
              <a:ext cx="456438" cy="456438"/>
            </a:xfrm>
            <a:custGeom>
              <a:avLst/>
              <a:gdLst/>
              <a:ahLst/>
              <a:cxnLst/>
              <a:rect r="r" b="b" t="t" l="l"/>
              <a:pathLst>
                <a:path h="456438" w="456438">
                  <a:moveTo>
                    <a:pt x="0" y="0"/>
                  </a:moveTo>
                  <a:lnTo>
                    <a:pt x="456438" y="0"/>
                  </a:lnTo>
                  <a:lnTo>
                    <a:pt x="456438" y="456438"/>
                  </a:lnTo>
                  <a:lnTo>
                    <a:pt x="0" y="456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5" b="-5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577340" y="7022592"/>
            <a:ext cx="6858000" cy="480060"/>
            <a:chOff x="0" y="0"/>
            <a:chExt cx="9144000" cy="6400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144000" cy="640080"/>
            </a:xfrm>
            <a:custGeom>
              <a:avLst/>
              <a:gdLst/>
              <a:ahLst/>
              <a:cxnLst/>
              <a:rect r="r" b="b" t="t" l="l"/>
              <a:pathLst>
                <a:path h="64008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8357" r="0" b="-22835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91440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Trazabilidad e historial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60120" y="7708392"/>
            <a:ext cx="438912" cy="438912"/>
            <a:chOff x="0" y="0"/>
            <a:chExt cx="585216" cy="58521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2F6E63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08402" y="7756674"/>
            <a:ext cx="342348" cy="342348"/>
            <a:chOff x="0" y="0"/>
            <a:chExt cx="456463" cy="456463"/>
          </a:xfrm>
        </p:grpSpPr>
        <p:sp>
          <p:nvSpPr>
            <p:cNvPr name="Freeform 47" id="47" descr="preencoded.png"/>
            <p:cNvSpPr/>
            <p:nvPr/>
          </p:nvSpPr>
          <p:spPr>
            <a:xfrm flipH="false" flipV="false" rot="0">
              <a:off x="0" y="0"/>
              <a:ext cx="456438" cy="456438"/>
            </a:xfrm>
            <a:custGeom>
              <a:avLst/>
              <a:gdLst/>
              <a:ahLst/>
              <a:cxnLst/>
              <a:rect r="r" b="b" t="t" l="l"/>
              <a:pathLst>
                <a:path h="456438" w="456438">
                  <a:moveTo>
                    <a:pt x="0" y="0"/>
                  </a:moveTo>
                  <a:lnTo>
                    <a:pt x="456438" y="0"/>
                  </a:lnTo>
                  <a:lnTo>
                    <a:pt x="456438" y="456438"/>
                  </a:lnTo>
                  <a:lnTo>
                    <a:pt x="0" y="456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5" b="-5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577340" y="7598664"/>
            <a:ext cx="6858000" cy="480060"/>
            <a:chOff x="0" y="0"/>
            <a:chExt cx="9144000" cy="6400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9144000" cy="640080"/>
            </a:xfrm>
            <a:custGeom>
              <a:avLst/>
              <a:gdLst/>
              <a:ahLst/>
              <a:cxnLst/>
              <a:rect r="r" b="b" t="t" l="l"/>
              <a:pathLst>
                <a:path h="64008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8357" r="0" b="-228357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91440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Seguridad, auditoría y pruebas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9052560" y="4937760"/>
            <a:ext cx="6858000" cy="411480"/>
            <a:chOff x="0" y="0"/>
            <a:chExt cx="91440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91440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74750" r="0" b="-2747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9144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25">
                  <a:solidFill>
                    <a:srgbClr val="B8504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 INCLUYE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052560" y="5404104"/>
            <a:ext cx="438912" cy="438912"/>
            <a:chOff x="0" y="0"/>
            <a:chExt cx="585216" cy="58521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B85042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9100842" y="5452386"/>
            <a:ext cx="342348" cy="342348"/>
            <a:chOff x="0" y="0"/>
            <a:chExt cx="456463" cy="456463"/>
          </a:xfrm>
        </p:grpSpPr>
        <p:sp>
          <p:nvSpPr>
            <p:cNvPr name="Freeform 57" id="57" descr="preencoded.png"/>
            <p:cNvSpPr/>
            <p:nvPr/>
          </p:nvSpPr>
          <p:spPr>
            <a:xfrm flipH="false" flipV="false" rot="0">
              <a:off x="0" y="0"/>
              <a:ext cx="456438" cy="456438"/>
            </a:xfrm>
            <a:custGeom>
              <a:avLst/>
              <a:gdLst/>
              <a:ahLst/>
              <a:cxnLst/>
              <a:rect r="r" b="b" t="t" l="l"/>
              <a:pathLst>
                <a:path h="456438" w="456438">
                  <a:moveTo>
                    <a:pt x="0" y="0"/>
                  </a:moveTo>
                  <a:lnTo>
                    <a:pt x="456438" y="0"/>
                  </a:lnTo>
                  <a:lnTo>
                    <a:pt x="456438" y="456438"/>
                  </a:lnTo>
                  <a:lnTo>
                    <a:pt x="0" y="456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5" b="-5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9672447" y="5452386"/>
            <a:ext cx="7269480" cy="480060"/>
            <a:chOff x="0" y="0"/>
            <a:chExt cx="9692640" cy="6400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9692640" cy="640080"/>
            </a:xfrm>
            <a:custGeom>
              <a:avLst/>
              <a:gdLst/>
              <a:ahLst/>
              <a:cxnLst/>
              <a:rect r="r" b="b" t="t" l="l"/>
              <a:pathLst>
                <a:path h="6400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5059" r="0" b="-245059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969264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Integración con sistemas reales externos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9052560" y="5980176"/>
            <a:ext cx="438912" cy="438912"/>
            <a:chOff x="0" y="0"/>
            <a:chExt cx="585216" cy="58521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B85042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9100842" y="6028458"/>
            <a:ext cx="342348" cy="342348"/>
            <a:chOff x="0" y="0"/>
            <a:chExt cx="456463" cy="456463"/>
          </a:xfrm>
        </p:grpSpPr>
        <p:sp>
          <p:nvSpPr>
            <p:cNvPr name="Freeform 64" id="64" descr="preencoded.png"/>
            <p:cNvSpPr/>
            <p:nvPr/>
          </p:nvSpPr>
          <p:spPr>
            <a:xfrm flipH="false" flipV="false" rot="0">
              <a:off x="0" y="0"/>
              <a:ext cx="456438" cy="456438"/>
            </a:xfrm>
            <a:custGeom>
              <a:avLst/>
              <a:gdLst/>
              <a:ahLst/>
              <a:cxnLst/>
              <a:rect r="r" b="b" t="t" l="l"/>
              <a:pathLst>
                <a:path h="456438" w="456438">
                  <a:moveTo>
                    <a:pt x="0" y="0"/>
                  </a:moveTo>
                  <a:lnTo>
                    <a:pt x="456438" y="0"/>
                  </a:lnTo>
                  <a:lnTo>
                    <a:pt x="456438" y="456438"/>
                  </a:lnTo>
                  <a:lnTo>
                    <a:pt x="0" y="456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5" b="-5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9672447" y="5980176"/>
            <a:ext cx="7269480" cy="480060"/>
            <a:chOff x="0" y="0"/>
            <a:chExt cx="9692640" cy="64008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9692640" cy="640080"/>
            </a:xfrm>
            <a:custGeom>
              <a:avLst/>
              <a:gdLst/>
              <a:ahLst/>
              <a:cxnLst/>
              <a:rect r="r" b="b" t="t" l="l"/>
              <a:pathLst>
                <a:path h="6400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5059" r="0" b="-245059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38100"/>
              <a:ext cx="969264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Operación a escala productiva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9052560" y="6556248"/>
            <a:ext cx="438912" cy="438912"/>
            <a:chOff x="0" y="0"/>
            <a:chExt cx="585216" cy="585216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B85042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9100842" y="6604530"/>
            <a:ext cx="342348" cy="342348"/>
            <a:chOff x="0" y="0"/>
            <a:chExt cx="456463" cy="456463"/>
          </a:xfrm>
        </p:grpSpPr>
        <p:sp>
          <p:nvSpPr>
            <p:cNvPr name="Freeform 71" id="71" descr="preencoded.png"/>
            <p:cNvSpPr/>
            <p:nvPr/>
          </p:nvSpPr>
          <p:spPr>
            <a:xfrm flipH="false" flipV="false" rot="0">
              <a:off x="0" y="0"/>
              <a:ext cx="456438" cy="456438"/>
            </a:xfrm>
            <a:custGeom>
              <a:avLst/>
              <a:gdLst/>
              <a:ahLst/>
              <a:cxnLst/>
              <a:rect r="r" b="b" t="t" l="l"/>
              <a:pathLst>
                <a:path h="456438" w="456438">
                  <a:moveTo>
                    <a:pt x="0" y="0"/>
                  </a:moveTo>
                  <a:lnTo>
                    <a:pt x="456438" y="0"/>
                  </a:lnTo>
                  <a:lnTo>
                    <a:pt x="456438" y="456438"/>
                  </a:lnTo>
                  <a:lnTo>
                    <a:pt x="0" y="456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5" b="-5"/>
              </a:stretch>
            </a:blip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9672447" y="6535674"/>
            <a:ext cx="7269480" cy="480060"/>
            <a:chOff x="0" y="0"/>
            <a:chExt cx="9692640" cy="64008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9692640" cy="640080"/>
            </a:xfrm>
            <a:custGeom>
              <a:avLst/>
              <a:gdLst/>
              <a:ahLst/>
              <a:cxnLst/>
              <a:rect r="r" b="b" t="t" l="l"/>
              <a:pathLst>
                <a:path h="6400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5059" r="0" b="-245059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969264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Soporte multiidioma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9052560" y="7132320"/>
            <a:ext cx="438912" cy="438912"/>
            <a:chOff x="0" y="0"/>
            <a:chExt cx="585216" cy="585216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B85042"/>
            </a:solid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9100842" y="7180602"/>
            <a:ext cx="342348" cy="342348"/>
            <a:chOff x="0" y="0"/>
            <a:chExt cx="456463" cy="456463"/>
          </a:xfrm>
        </p:grpSpPr>
        <p:sp>
          <p:nvSpPr>
            <p:cNvPr name="Freeform 78" id="78" descr="preencoded.png"/>
            <p:cNvSpPr/>
            <p:nvPr/>
          </p:nvSpPr>
          <p:spPr>
            <a:xfrm flipH="false" flipV="false" rot="0">
              <a:off x="0" y="0"/>
              <a:ext cx="456438" cy="456438"/>
            </a:xfrm>
            <a:custGeom>
              <a:avLst/>
              <a:gdLst/>
              <a:ahLst/>
              <a:cxnLst/>
              <a:rect r="r" b="b" t="t" l="l"/>
              <a:pathLst>
                <a:path h="456438" w="456438">
                  <a:moveTo>
                    <a:pt x="0" y="0"/>
                  </a:moveTo>
                  <a:lnTo>
                    <a:pt x="456438" y="0"/>
                  </a:lnTo>
                  <a:lnTo>
                    <a:pt x="456438" y="456438"/>
                  </a:lnTo>
                  <a:lnTo>
                    <a:pt x="0" y="456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5" b="-5"/>
              </a:stretch>
            </a:blip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9672447" y="7132320"/>
            <a:ext cx="7269480" cy="480060"/>
            <a:chOff x="0" y="0"/>
            <a:chExt cx="9692640" cy="64008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9692640" cy="640080"/>
            </a:xfrm>
            <a:custGeom>
              <a:avLst/>
              <a:gdLst/>
              <a:ahLst/>
              <a:cxnLst/>
              <a:rect r="r" b="b" t="t" l="l"/>
              <a:pathLst>
                <a:path h="6400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5059" r="0" b="-245059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38100"/>
              <a:ext cx="969264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Canales adicionales (WhatsApp, correo)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C666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3716000" cy="411480"/>
            <a:chOff x="0" y="0"/>
            <a:chExt cx="182880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501" r="0" b="-59950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8288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004E8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DESCUBRIMIENTO Y VISIÓN DEL PRODUCTO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960120"/>
            <a:ext cx="16459200" cy="960120"/>
            <a:chOff x="0" y="0"/>
            <a:chExt cx="21945600" cy="1280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945600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Actores y sus necesidades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50595" y="2870835"/>
            <a:ext cx="5093970" cy="5093970"/>
            <a:chOff x="0" y="0"/>
            <a:chExt cx="6791960" cy="67919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791961" cy="6791961"/>
            </a:xfrm>
            <a:custGeom>
              <a:avLst/>
              <a:gdLst/>
              <a:ahLst/>
              <a:cxnLst/>
              <a:rect r="r" b="b" t="t" l="l"/>
              <a:pathLst>
                <a:path h="6791961" w="6791961">
                  <a:moveTo>
                    <a:pt x="0" y="183642"/>
                  </a:moveTo>
                  <a:cubicBezTo>
                    <a:pt x="0" y="82169"/>
                    <a:pt x="82169" y="0"/>
                    <a:pt x="183642" y="0"/>
                  </a:cubicBezTo>
                  <a:lnTo>
                    <a:pt x="6608318" y="0"/>
                  </a:lnTo>
                  <a:cubicBezTo>
                    <a:pt x="6709664" y="0"/>
                    <a:pt x="6791961" y="82169"/>
                    <a:pt x="6791961" y="183642"/>
                  </a:cubicBezTo>
                  <a:lnTo>
                    <a:pt x="6791961" y="6608318"/>
                  </a:lnTo>
                  <a:cubicBezTo>
                    <a:pt x="6791961" y="6709664"/>
                    <a:pt x="6709791" y="6791961"/>
                    <a:pt x="6608318" y="6791961"/>
                  </a:cubicBezTo>
                  <a:lnTo>
                    <a:pt x="183642" y="6791961"/>
                  </a:lnTo>
                  <a:cubicBezTo>
                    <a:pt x="82169" y="6791960"/>
                    <a:pt x="0" y="6709791"/>
                    <a:pt x="0" y="660831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2948940" y="3291840"/>
            <a:ext cx="1097280" cy="1097280"/>
            <a:chOff x="0" y="0"/>
            <a:chExt cx="1463040" cy="1463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731520"/>
                  </a:moveTo>
                  <a:cubicBezTo>
                    <a:pt x="0" y="327533"/>
                    <a:pt x="327533" y="0"/>
                    <a:pt x="731520" y="0"/>
                  </a:cubicBezTo>
                  <a:cubicBezTo>
                    <a:pt x="1135507" y="0"/>
                    <a:pt x="1463040" y="327533"/>
                    <a:pt x="1463040" y="731520"/>
                  </a:cubicBezTo>
                  <a:cubicBezTo>
                    <a:pt x="1463040" y="1135507"/>
                    <a:pt x="1135507" y="1463040"/>
                    <a:pt x="731520" y="1463040"/>
                  </a:cubicBezTo>
                  <a:cubicBezTo>
                    <a:pt x="327533" y="1463040"/>
                    <a:pt x="0" y="1135507"/>
                    <a:pt x="0" y="7315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3069641" y="3412541"/>
            <a:ext cx="855878" cy="855878"/>
            <a:chOff x="0" y="0"/>
            <a:chExt cx="1141171" cy="1141171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141222" cy="1141222"/>
            </a:xfrm>
            <a:custGeom>
              <a:avLst/>
              <a:gdLst/>
              <a:ahLst/>
              <a:cxnLst/>
              <a:rect r="r" b="b" t="t" l="l"/>
              <a:pathLst>
                <a:path h="1141222" w="1141222">
                  <a:moveTo>
                    <a:pt x="0" y="0"/>
                  </a:moveTo>
                  <a:lnTo>
                    <a:pt x="1141222" y="0"/>
                  </a:lnTo>
                  <a:lnTo>
                    <a:pt x="1141222" y="1141222"/>
                  </a:lnTo>
                  <a:lnTo>
                    <a:pt x="0" y="1141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4" b="4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234440" y="4594860"/>
            <a:ext cx="4526280" cy="548640"/>
            <a:chOff x="0" y="0"/>
            <a:chExt cx="6035040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035040" cy="731520"/>
            </a:xfrm>
            <a:custGeom>
              <a:avLst/>
              <a:gdLst/>
              <a:ahLst/>
              <a:cxnLst/>
              <a:rect r="r" b="b" t="t" l="l"/>
              <a:pathLst>
                <a:path h="7315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0751" r="0" b="-11075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603504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Cliente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531620" y="5288280"/>
            <a:ext cx="39319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875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Respuestas inmediatas y confiables, con escalamiento simple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505575" y="2870835"/>
            <a:ext cx="5093970" cy="5093970"/>
            <a:chOff x="0" y="0"/>
            <a:chExt cx="6791960" cy="67919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791961" cy="6791961"/>
            </a:xfrm>
            <a:custGeom>
              <a:avLst/>
              <a:gdLst/>
              <a:ahLst/>
              <a:cxnLst/>
              <a:rect r="r" b="b" t="t" l="l"/>
              <a:pathLst>
                <a:path h="6791961" w="6791961">
                  <a:moveTo>
                    <a:pt x="0" y="183642"/>
                  </a:moveTo>
                  <a:cubicBezTo>
                    <a:pt x="0" y="82169"/>
                    <a:pt x="82169" y="0"/>
                    <a:pt x="183642" y="0"/>
                  </a:cubicBezTo>
                  <a:lnTo>
                    <a:pt x="6608318" y="0"/>
                  </a:lnTo>
                  <a:cubicBezTo>
                    <a:pt x="6709664" y="0"/>
                    <a:pt x="6791961" y="82169"/>
                    <a:pt x="6791961" y="183642"/>
                  </a:cubicBezTo>
                  <a:lnTo>
                    <a:pt x="6791961" y="6608318"/>
                  </a:lnTo>
                  <a:cubicBezTo>
                    <a:pt x="6791961" y="6709664"/>
                    <a:pt x="6709791" y="6791961"/>
                    <a:pt x="6608318" y="6791961"/>
                  </a:cubicBezTo>
                  <a:lnTo>
                    <a:pt x="183642" y="6791961"/>
                  </a:lnTo>
                  <a:cubicBezTo>
                    <a:pt x="82169" y="6791960"/>
                    <a:pt x="0" y="6709791"/>
                    <a:pt x="0" y="660831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503920" y="3291840"/>
            <a:ext cx="1097280" cy="1097280"/>
            <a:chOff x="0" y="0"/>
            <a:chExt cx="1463040" cy="14630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731520"/>
                  </a:moveTo>
                  <a:cubicBezTo>
                    <a:pt x="0" y="327533"/>
                    <a:pt x="327533" y="0"/>
                    <a:pt x="731520" y="0"/>
                  </a:cubicBezTo>
                  <a:cubicBezTo>
                    <a:pt x="1135507" y="0"/>
                    <a:pt x="1463040" y="327533"/>
                    <a:pt x="1463040" y="731520"/>
                  </a:cubicBezTo>
                  <a:cubicBezTo>
                    <a:pt x="1463040" y="1135507"/>
                    <a:pt x="1135507" y="1463040"/>
                    <a:pt x="731520" y="1463040"/>
                  </a:cubicBezTo>
                  <a:cubicBezTo>
                    <a:pt x="327533" y="1463040"/>
                    <a:pt x="0" y="1135507"/>
                    <a:pt x="0" y="7315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624621" y="3412541"/>
            <a:ext cx="855878" cy="855878"/>
            <a:chOff x="0" y="0"/>
            <a:chExt cx="1141171" cy="1141171"/>
          </a:xfrm>
        </p:grpSpPr>
        <p:sp>
          <p:nvSpPr>
            <p:cNvPr name="Freeform 23" id="23" descr="preencoded.png"/>
            <p:cNvSpPr/>
            <p:nvPr/>
          </p:nvSpPr>
          <p:spPr>
            <a:xfrm flipH="false" flipV="false" rot="0">
              <a:off x="0" y="0"/>
              <a:ext cx="1141222" cy="1141222"/>
            </a:xfrm>
            <a:custGeom>
              <a:avLst/>
              <a:gdLst/>
              <a:ahLst/>
              <a:cxnLst/>
              <a:rect r="r" b="b" t="t" l="l"/>
              <a:pathLst>
                <a:path h="1141222" w="1141222">
                  <a:moveTo>
                    <a:pt x="0" y="0"/>
                  </a:moveTo>
                  <a:lnTo>
                    <a:pt x="1141222" y="0"/>
                  </a:lnTo>
                  <a:lnTo>
                    <a:pt x="1141222" y="1141222"/>
                  </a:lnTo>
                  <a:lnTo>
                    <a:pt x="0" y="1141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4" b="4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789420" y="4594860"/>
            <a:ext cx="4526280" cy="548640"/>
            <a:chOff x="0" y="0"/>
            <a:chExt cx="6035040" cy="731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035040" cy="731520"/>
            </a:xfrm>
            <a:custGeom>
              <a:avLst/>
              <a:gdLst/>
              <a:ahLst/>
              <a:cxnLst/>
              <a:rect r="r" b="b" t="t" l="l"/>
              <a:pathLst>
                <a:path h="7315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0751" r="0" b="-110751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603504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Ejecutivo de atención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7086600" y="5288280"/>
            <a:ext cx="39319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875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Recibir solo los casos relevantes, con contexto completo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060555" y="2870835"/>
            <a:ext cx="5093970" cy="5093970"/>
            <a:chOff x="0" y="0"/>
            <a:chExt cx="6791960" cy="67919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791961" cy="6791961"/>
            </a:xfrm>
            <a:custGeom>
              <a:avLst/>
              <a:gdLst/>
              <a:ahLst/>
              <a:cxnLst/>
              <a:rect r="r" b="b" t="t" l="l"/>
              <a:pathLst>
                <a:path h="6791961" w="6791961">
                  <a:moveTo>
                    <a:pt x="0" y="183642"/>
                  </a:moveTo>
                  <a:cubicBezTo>
                    <a:pt x="0" y="82169"/>
                    <a:pt x="82169" y="0"/>
                    <a:pt x="183642" y="0"/>
                  </a:cubicBezTo>
                  <a:lnTo>
                    <a:pt x="6608318" y="0"/>
                  </a:lnTo>
                  <a:cubicBezTo>
                    <a:pt x="6709664" y="0"/>
                    <a:pt x="6791961" y="82169"/>
                    <a:pt x="6791961" y="183642"/>
                  </a:cubicBezTo>
                  <a:lnTo>
                    <a:pt x="6791961" y="6608318"/>
                  </a:lnTo>
                  <a:cubicBezTo>
                    <a:pt x="6791961" y="6709664"/>
                    <a:pt x="6709791" y="6791961"/>
                    <a:pt x="6608318" y="6791961"/>
                  </a:cubicBezTo>
                  <a:lnTo>
                    <a:pt x="183642" y="6791961"/>
                  </a:lnTo>
                  <a:cubicBezTo>
                    <a:pt x="82169" y="6791960"/>
                    <a:pt x="0" y="6709791"/>
                    <a:pt x="0" y="660831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4058900" y="3291840"/>
            <a:ext cx="1097280" cy="1097280"/>
            <a:chOff x="0" y="0"/>
            <a:chExt cx="1463040" cy="14630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731520"/>
                  </a:moveTo>
                  <a:cubicBezTo>
                    <a:pt x="0" y="327533"/>
                    <a:pt x="327533" y="0"/>
                    <a:pt x="731520" y="0"/>
                  </a:cubicBezTo>
                  <a:cubicBezTo>
                    <a:pt x="1135507" y="0"/>
                    <a:pt x="1463040" y="327533"/>
                    <a:pt x="1463040" y="731520"/>
                  </a:cubicBezTo>
                  <a:cubicBezTo>
                    <a:pt x="1463040" y="1135507"/>
                    <a:pt x="1135507" y="1463040"/>
                    <a:pt x="731520" y="1463040"/>
                  </a:cubicBezTo>
                  <a:cubicBezTo>
                    <a:pt x="327533" y="1463040"/>
                    <a:pt x="0" y="1135507"/>
                    <a:pt x="0" y="7315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4179601" y="3412541"/>
            <a:ext cx="855878" cy="855878"/>
            <a:chOff x="0" y="0"/>
            <a:chExt cx="1141171" cy="1141171"/>
          </a:xfrm>
        </p:grpSpPr>
        <p:sp>
          <p:nvSpPr>
            <p:cNvPr name="Freeform 33" id="33" descr="preencoded.png"/>
            <p:cNvSpPr/>
            <p:nvPr/>
          </p:nvSpPr>
          <p:spPr>
            <a:xfrm flipH="false" flipV="false" rot="0">
              <a:off x="0" y="0"/>
              <a:ext cx="1141222" cy="1141222"/>
            </a:xfrm>
            <a:custGeom>
              <a:avLst/>
              <a:gdLst/>
              <a:ahLst/>
              <a:cxnLst/>
              <a:rect r="r" b="b" t="t" l="l"/>
              <a:pathLst>
                <a:path h="1141222" w="1141222">
                  <a:moveTo>
                    <a:pt x="0" y="0"/>
                  </a:moveTo>
                  <a:lnTo>
                    <a:pt x="1141222" y="0"/>
                  </a:lnTo>
                  <a:lnTo>
                    <a:pt x="1141222" y="1141222"/>
                  </a:lnTo>
                  <a:lnTo>
                    <a:pt x="0" y="1141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4" b="4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2344400" y="4594860"/>
            <a:ext cx="4526280" cy="548640"/>
            <a:chOff x="0" y="0"/>
            <a:chExt cx="6035040" cy="7315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035040" cy="731520"/>
            </a:xfrm>
            <a:custGeom>
              <a:avLst/>
              <a:gdLst/>
              <a:ahLst/>
              <a:cxnLst/>
              <a:rect r="r" b="b" t="t" l="l"/>
              <a:pathLst>
                <a:path h="7315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0751" r="0" b="-110751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"/>
              <a:ext cx="603504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Administrador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2641580" y="5288280"/>
            <a:ext cx="39319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875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Supervisar la base de conocimiento y la calidad del servicio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C666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75438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09728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D98E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PRODUCT GOAL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51560" y="1270635"/>
            <a:ext cx="16139160" cy="1701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33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Que los clientes resuelvan sus consultas de forma inmediata y confiable a través de un asistente con IA, derivando a un humano solo cuando sea necesario, con trazabilidad completa.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60120" y="3497580"/>
            <a:ext cx="3909060" cy="4869180"/>
            <a:chOff x="0" y="0"/>
            <a:chExt cx="5212080" cy="64922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212080" cy="6492240"/>
            </a:xfrm>
            <a:custGeom>
              <a:avLst/>
              <a:gdLst/>
              <a:ahLst/>
              <a:cxnLst/>
              <a:rect r="r" b="b" t="t" l="l"/>
              <a:pathLst>
                <a:path h="6492240" w="521208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5029200" y="0"/>
                  </a:lnTo>
                  <a:cubicBezTo>
                    <a:pt x="5130165" y="0"/>
                    <a:pt x="5212080" y="81915"/>
                    <a:pt x="5212080" y="182880"/>
                  </a:cubicBezTo>
                  <a:lnTo>
                    <a:pt x="5212080" y="6309360"/>
                  </a:lnTo>
                  <a:cubicBezTo>
                    <a:pt x="5212080" y="6410325"/>
                    <a:pt x="5130165" y="6492240"/>
                    <a:pt x="5029200" y="6492240"/>
                  </a:cubicBezTo>
                  <a:lnTo>
                    <a:pt x="182880" y="6492240"/>
                  </a:lnTo>
                  <a:cubicBezTo>
                    <a:pt x="81915" y="6492240"/>
                    <a:pt x="0" y="6410325"/>
                    <a:pt x="0" y="630936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4590" y="3909060"/>
            <a:ext cx="960120" cy="960120"/>
            <a:chOff x="0" y="0"/>
            <a:chExt cx="1280160" cy="12801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D98E04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540203" y="4014673"/>
            <a:ext cx="748894" cy="748894"/>
            <a:chOff x="0" y="0"/>
            <a:chExt cx="998525" cy="998525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998474" cy="998474"/>
            </a:xfrm>
            <a:custGeom>
              <a:avLst/>
              <a:gdLst/>
              <a:ahLst/>
              <a:cxnLst/>
              <a:rect r="r" b="b" t="t" l="l"/>
              <a:pathLst>
                <a:path h="998474" w="998474">
                  <a:moveTo>
                    <a:pt x="0" y="0"/>
                  </a:moveTo>
                  <a:lnTo>
                    <a:pt x="998474" y="0"/>
                  </a:lnTo>
                  <a:lnTo>
                    <a:pt x="998474" y="998474"/>
                  </a:lnTo>
                  <a:lnTo>
                    <a:pt x="0" y="998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5" b="-5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298448" y="5179695"/>
            <a:ext cx="3232404" cy="741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Valor para el cliente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53312" y="5993130"/>
            <a:ext cx="3122676" cy="2122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CFE2DD"/>
                </a:solidFill>
                <a:latin typeface="Calibri (MS)"/>
                <a:ea typeface="Calibri (MS)"/>
                <a:cs typeface="Calibri (MS)"/>
                <a:sym typeface="Calibri (MS)"/>
              </a:rPr>
              <a:t>Respuestas rápidas y confiables, sin inventar información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5212080" y="3497580"/>
            <a:ext cx="3909060" cy="4869180"/>
            <a:chOff x="0" y="0"/>
            <a:chExt cx="5212080" cy="6492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12080" cy="6492240"/>
            </a:xfrm>
            <a:custGeom>
              <a:avLst/>
              <a:gdLst/>
              <a:ahLst/>
              <a:cxnLst/>
              <a:rect r="r" b="b" t="t" l="l"/>
              <a:pathLst>
                <a:path h="6492240" w="521208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5029200" y="0"/>
                  </a:lnTo>
                  <a:cubicBezTo>
                    <a:pt x="5130165" y="0"/>
                    <a:pt x="5212080" y="81915"/>
                    <a:pt x="5212080" y="182880"/>
                  </a:cubicBezTo>
                  <a:lnTo>
                    <a:pt x="5212080" y="6309360"/>
                  </a:lnTo>
                  <a:cubicBezTo>
                    <a:pt x="5212080" y="6410325"/>
                    <a:pt x="5130165" y="6492240"/>
                    <a:pt x="5029200" y="6492240"/>
                  </a:cubicBezTo>
                  <a:lnTo>
                    <a:pt x="182880" y="6492240"/>
                  </a:lnTo>
                  <a:cubicBezTo>
                    <a:pt x="81915" y="6492240"/>
                    <a:pt x="0" y="6410325"/>
                    <a:pt x="0" y="630936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686550" y="3909060"/>
            <a:ext cx="960120" cy="960120"/>
            <a:chOff x="0" y="0"/>
            <a:chExt cx="1280160" cy="128016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D98E04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792163" y="4014673"/>
            <a:ext cx="748894" cy="748894"/>
            <a:chOff x="0" y="0"/>
            <a:chExt cx="998525" cy="998525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998474" cy="998474"/>
            </a:xfrm>
            <a:custGeom>
              <a:avLst/>
              <a:gdLst/>
              <a:ahLst/>
              <a:cxnLst/>
              <a:rect r="r" b="b" t="t" l="l"/>
              <a:pathLst>
                <a:path h="998474" w="998474">
                  <a:moveTo>
                    <a:pt x="0" y="0"/>
                  </a:moveTo>
                  <a:lnTo>
                    <a:pt x="998474" y="0"/>
                  </a:lnTo>
                  <a:lnTo>
                    <a:pt x="998474" y="998474"/>
                  </a:lnTo>
                  <a:lnTo>
                    <a:pt x="0" y="998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5" b="-5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5550408" y="5179695"/>
            <a:ext cx="3232404" cy="741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Factibilidad técnica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605272" y="5993130"/>
            <a:ext cx="3122676" cy="2122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CFE2DD"/>
                </a:solidFill>
                <a:latin typeface="Calibri (MS)"/>
                <a:ea typeface="Calibri (MS)"/>
                <a:cs typeface="Calibri (MS)"/>
                <a:sym typeface="Calibri (MS)"/>
              </a:rPr>
              <a:t>Tecnologías validadas, viables dentro del semestre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464040" y="3497580"/>
            <a:ext cx="3909060" cy="4869180"/>
            <a:chOff x="0" y="0"/>
            <a:chExt cx="5212080" cy="6492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212080" cy="6492240"/>
            </a:xfrm>
            <a:custGeom>
              <a:avLst/>
              <a:gdLst/>
              <a:ahLst/>
              <a:cxnLst/>
              <a:rect r="r" b="b" t="t" l="l"/>
              <a:pathLst>
                <a:path h="6492240" w="521208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5029200" y="0"/>
                  </a:lnTo>
                  <a:cubicBezTo>
                    <a:pt x="5130165" y="0"/>
                    <a:pt x="5212080" y="81915"/>
                    <a:pt x="5212080" y="182880"/>
                  </a:cubicBezTo>
                  <a:lnTo>
                    <a:pt x="5212080" y="6309360"/>
                  </a:lnTo>
                  <a:cubicBezTo>
                    <a:pt x="5212080" y="6410325"/>
                    <a:pt x="5130165" y="6492240"/>
                    <a:pt x="5029200" y="6492240"/>
                  </a:cubicBezTo>
                  <a:lnTo>
                    <a:pt x="182880" y="6492240"/>
                  </a:lnTo>
                  <a:cubicBezTo>
                    <a:pt x="81915" y="6492240"/>
                    <a:pt x="0" y="6410325"/>
                    <a:pt x="0" y="630936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0938510" y="3909060"/>
            <a:ext cx="960120" cy="960120"/>
            <a:chOff x="0" y="0"/>
            <a:chExt cx="1280160" cy="128016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D98E0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1044123" y="4014673"/>
            <a:ext cx="748894" cy="748894"/>
            <a:chOff x="0" y="0"/>
            <a:chExt cx="998525" cy="998525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998474" cy="998474"/>
            </a:xfrm>
            <a:custGeom>
              <a:avLst/>
              <a:gdLst/>
              <a:ahLst/>
              <a:cxnLst/>
              <a:rect r="r" b="b" t="t" l="l"/>
              <a:pathLst>
                <a:path h="998474" w="998474">
                  <a:moveTo>
                    <a:pt x="0" y="0"/>
                  </a:moveTo>
                  <a:lnTo>
                    <a:pt x="998474" y="0"/>
                  </a:lnTo>
                  <a:lnTo>
                    <a:pt x="998474" y="998474"/>
                  </a:lnTo>
                  <a:lnTo>
                    <a:pt x="0" y="998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5" b="-5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9802368" y="5179695"/>
            <a:ext cx="3232404" cy="741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Impacto organizacional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857232" y="5993130"/>
            <a:ext cx="3122676" cy="2122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CFE2DD"/>
                </a:solidFill>
                <a:latin typeface="Calibri (MS)"/>
                <a:ea typeface="Calibri (MS)"/>
                <a:cs typeface="Calibri (MS)"/>
                <a:sym typeface="Calibri (MS)"/>
              </a:rPr>
              <a:t>Menor carga operativa, más tiempo para casos complejos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3716000" y="3497580"/>
            <a:ext cx="3909060" cy="4869180"/>
            <a:chOff x="0" y="0"/>
            <a:chExt cx="5212080" cy="64922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12080" cy="6492240"/>
            </a:xfrm>
            <a:custGeom>
              <a:avLst/>
              <a:gdLst/>
              <a:ahLst/>
              <a:cxnLst/>
              <a:rect r="r" b="b" t="t" l="l"/>
              <a:pathLst>
                <a:path h="6492240" w="521208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5029200" y="0"/>
                  </a:lnTo>
                  <a:cubicBezTo>
                    <a:pt x="5130165" y="0"/>
                    <a:pt x="5212080" y="81915"/>
                    <a:pt x="5212080" y="182880"/>
                  </a:cubicBezTo>
                  <a:lnTo>
                    <a:pt x="5212080" y="6309360"/>
                  </a:lnTo>
                  <a:cubicBezTo>
                    <a:pt x="5212080" y="6410325"/>
                    <a:pt x="5130165" y="6492240"/>
                    <a:pt x="5029200" y="6492240"/>
                  </a:cubicBezTo>
                  <a:lnTo>
                    <a:pt x="182880" y="6492240"/>
                  </a:lnTo>
                  <a:cubicBezTo>
                    <a:pt x="81915" y="6492240"/>
                    <a:pt x="0" y="6410325"/>
                    <a:pt x="0" y="630936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5190470" y="3909060"/>
            <a:ext cx="960120" cy="960120"/>
            <a:chOff x="0" y="0"/>
            <a:chExt cx="1280160" cy="128016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D98E04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5296083" y="4014673"/>
            <a:ext cx="748894" cy="748894"/>
            <a:chOff x="0" y="0"/>
            <a:chExt cx="998525" cy="998525"/>
          </a:xfrm>
        </p:grpSpPr>
        <p:sp>
          <p:nvSpPr>
            <p:cNvPr name="Freeform 35" id="35" descr="preencoded.png"/>
            <p:cNvSpPr/>
            <p:nvPr/>
          </p:nvSpPr>
          <p:spPr>
            <a:xfrm flipH="false" flipV="false" rot="0">
              <a:off x="0" y="0"/>
              <a:ext cx="998474" cy="998474"/>
            </a:xfrm>
            <a:custGeom>
              <a:avLst/>
              <a:gdLst/>
              <a:ahLst/>
              <a:cxnLst/>
              <a:rect r="r" b="b" t="t" l="l"/>
              <a:pathLst>
                <a:path h="998474" w="998474">
                  <a:moveTo>
                    <a:pt x="0" y="0"/>
                  </a:moveTo>
                  <a:lnTo>
                    <a:pt x="998474" y="0"/>
                  </a:lnTo>
                  <a:lnTo>
                    <a:pt x="998474" y="998474"/>
                  </a:lnTo>
                  <a:lnTo>
                    <a:pt x="0" y="998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5" b="-5"/>
              </a:stretch>
            </a:blip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4054328" y="5179695"/>
            <a:ext cx="3232404" cy="741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Sostenibilidad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109192" y="5993130"/>
            <a:ext cx="3122676" cy="2122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CFE2DD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Arquitectura desacoplada, fácil de mantener y evolucionar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9FB3A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7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3716000" cy="411480"/>
            <a:chOff x="0" y="0"/>
            <a:chExt cx="182880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501" r="0" b="-59950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8288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004E8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DEFINICIÓN FORMAL DE ENTREGABLES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960120"/>
            <a:ext cx="16459200" cy="960120"/>
            <a:chOff x="0" y="0"/>
            <a:chExt cx="21945600" cy="1280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945600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16 entregables, 4 frentes de trabajo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50595" y="2733675"/>
            <a:ext cx="7905750" cy="2556510"/>
            <a:chOff x="0" y="0"/>
            <a:chExt cx="10541000" cy="34086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541000" cy="3408680"/>
            </a:xfrm>
            <a:custGeom>
              <a:avLst/>
              <a:gdLst/>
              <a:ahLst/>
              <a:cxnLst/>
              <a:rect r="r" b="b" t="t" l="l"/>
              <a:pathLst>
                <a:path h="3408680" w="10541000">
                  <a:moveTo>
                    <a:pt x="0" y="184277"/>
                  </a:moveTo>
                  <a:cubicBezTo>
                    <a:pt x="0" y="82550"/>
                    <a:pt x="82550" y="0"/>
                    <a:pt x="184277" y="0"/>
                  </a:cubicBezTo>
                  <a:lnTo>
                    <a:pt x="10356723" y="0"/>
                  </a:lnTo>
                  <a:cubicBezTo>
                    <a:pt x="10458450" y="0"/>
                    <a:pt x="10541000" y="82550"/>
                    <a:pt x="10541000" y="184277"/>
                  </a:cubicBezTo>
                  <a:lnTo>
                    <a:pt x="10541000" y="3224403"/>
                  </a:lnTo>
                  <a:cubicBezTo>
                    <a:pt x="10541000" y="3326130"/>
                    <a:pt x="10458450" y="3408680"/>
                    <a:pt x="10356723" y="3408680"/>
                  </a:cubicBezTo>
                  <a:lnTo>
                    <a:pt x="184277" y="3408680"/>
                  </a:lnTo>
                  <a:cubicBezTo>
                    <a:pt x="82550" y="3408680"/>
                    <a:pt x="0" y="3326130"/>
                    <a:pt x="0" y="322440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03020" y="3154680"/>
            <a:ext cx="822960" cy="822960"/>
            <a:chOff x="0" y="0"/>
            <a:chExt cx="1097280" cy="10972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93546" y="3245206"/>
            <a:ext cx="641909" cy="641909"/>
            <a:chOff x="0" y="0"/>
            <a:chExt cx="855878" cy="855878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855853" cy="855853"/>
            </a:xfrm>
            <a:custGeom>
              <a:avLst/>
              <a:gdLst/>
              <a:ahLst/>
              <a:cxnLst/>
              <a:rect r="r" b="b" t="t" l="l"/>
              <a:pathLst>
                <a:path h="855853" w="855853">
                  <a:moveTo>
                    <a:pt x="0" y="0"/>
                  </a:moveTo>
                  <a:lnTo>
                    <a:pt x="855853" y="0"/>
                  </a:lnTo>
                  <a:lnTo>
                    <a:pt x="855853" y="855853"/>
                  </a:lnTo>
                  <a:lnTo>
                    <a:pt x="0" y="855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2" b="-2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092440" y="2990088"/>
            <a:ext cx="521208" cy="521208"/>
            <a:chOff x="0" y="0"/>
            <a:chExt cx="694944" cy="694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8E0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092440" y="2990088"/>
            <a:ext cx="521208" cy="521208"/>
            <a:chOff x="0" y="0"/>
            <a:chExt cx="694944" cy="69494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400300" y="3044952"/>
            <a:ext cx="5623560" cy="548640"/>
            <a:chOff x="0" y="0"/>
            <a:chExt cx="7498080" cy="731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498080" cy="731520"/>
            </a:xfrm>
            <a:custGeom>
              <a:avLst/>
              <a:gdLst/>
              <a:ahLst/>
              <a:cxnLst/>
              <a:rect r="r" b="b" t="t" l="l"/>
              <a:pathLst>
                <a:path h="731520" w="7498080">
                  <a:moveTo>
                    <a:pt x="0" y="0"/>
                  </a:moveTo>
                  <a:lnTo>
                    <a:pt x="7498080" y="0"/>
                  </a:lnTo>
                  <a:lnTo>
                    <a:pt x="749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721" r="0" b="-149721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749808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Plataforma y usuarios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2491740" y="3651885"/>
            <a:ext cx="5920740" cy="1308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Plataforma web · Usuarios y roles · Panel administrativo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317355" y="2733675"/>
            <a:ext cx="7905750" cy="2556510"/>
            <a:chOff x="0" y="0"/>
            <a:chExt cx="10541000" cy="34086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541000" cy="3408680"/>
            </a:xfrm>
            <a:custGeom>
              <a:avLst/>
              <a:gdLst/>
              <a:ahLst/>
              <a:cxnLst/>
              <a:rect r="r" b="b" t="t" l="l"/>
              <a:pathLst>
                <a:path h="3408680" w="10541000">
                  <a:moveTo>
                    <a:pt x="0" y="184277"/>
                  </a:moveTo>
                  <a:cubicBezTo>
                    <a:pt x="0" y="82550"/>
                    <a:pt x="82550" y="0"/>
                    <a:pt x="184277" y="0"/>
                  </a:cubicBezTo>
                  <a:lnTo>
                    <a:pt x="10356723" y="0"/>
                  </a:lnTo>
                  <a:cubicBezTo>
                    <a:pt x="10458450" y="0"/>
                    <a:pt x="10541000" y="82550"/>
                    <a:pt x="10541000" y="184277"/>
                  </a:cubicBezTo>
                  <a:lnTo>
                    <a:pt x="10541000" y="3224403"/>
                  </a:lnTo>
                  <a:cubicBezTo>
                    <a:pt x="10541000" y="3326130"/>
                    <a:pt x="10458450" y="3408680"/>
                    <a:pt x="10356723" y="3408680"/>
                  </a:cubicBezTo>
                  <a:lnTo>
                    <a:pt x="184277" y="3408680"/>
                  </a:lnTo>
                  <a:cubicBezTo>
                    <a:pt x="82550" y="3408680"/>
                    <a:pt x="0" y="3326130"/>
                    <a:pt x="0" y="322440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9669780" y="3154680"/>
            <a:ext cx="822960" cy="822960"/>
            <a:chOff x="0" y="0"/>
            <a:chExt cx="1097280" cy="10972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9760306" y="3245206"/>
            <a:ext cx="641909" cy="641909"/>
            <a:chOff x="0" y="0"/>
            <a:chExt cx="855878" cy="855878"/>
          </a:xfrm>
        </p:grpSpPr>
        <p:sp>
          <p:nvSpPr>
            <p:cNvPr name="Freeform 28" id="28" descr="preencoded.png"/>
            <p:cNvSpPr/>
            <p:nvPr/>
          </p:nvSpPr>
          <p:spPr>
            <a:xfrm flipH="false" flipV="false" rot="0">
              <a:off x="0" y="0"/>
              <a:ext cx="855853" cy="855853"/>
            </a:xfrm>
            <a:custGeom>
              <a:avLst/>
              <a:gdLst/>
              <a:ahLst/>
              <a:cxnLst/>
              <a:rect r="r" b="b" t="t" l="l"/>
              <a:pathLst>
                <a:path h="855853" w="855853">
                  <a:moveTo>
                    <a:pt x="0" y="0"/>
                  </a:moveTo>
                  <a:lnTo>
                    <a:pt x="855853" y="0"/>
                  </a:lnTo>
                  <a:lnTo>
                    <a:pt x="855853" y="855853"/>
                  </a:lnTo>
                  <a:lnTo>
                    <a:pt x="0" y="855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2" b="-2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6459200" y="2990088"/>
            <a:ext cx="521208" cy="521208"/>
            <a:chOff x="0" y="0"/>
            <a:chExt cx="694944" cy="69494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8E04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6459200" y="2990088"/>
            <a:ext cx="521208" cy="521208"/>
            <a:chOff x="0" y="0"/>
            <a:chExt cx="694944" cy="69494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0767060" y="3044952"/>
            <a:ext cx="5623560" cy="548640"/>
            <a:chOff x="0" y="0"/>
            <a:chExt cx="7498080" cy="7315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498080" cy="731520"/>
            </a:xfrm>
            <a:custGeom>
              <a:avLst/>
              <a:gdLst/>
              <a:ahLst/>
              <a:cxnLst/>
              <a:rect r="r" b="b" t="t" l="l"/>
              <a:pathLst>
                <a:path h="731520" w="7498080">
                  <a:moveTo>
                    <a:pt x="0" y="0"/>
                  </a:moveTo>
                  <a:lnTo>
                    <a:pt x="7498080" y="0"/>
                  </a:lnTo>
                  <a:lnTo>
                    <a:pt x="749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721" r="0" b="-149721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749808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IA y conocimiento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0858500" y="3651885"/>
            <a:ext cx="5920740" cy="1308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Asistente conversacional · Base de conocimiento · Motor RAG · Control de confianza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50595" y="5614035"/>
            <a:ext cx="7905750" cy="2556510"/>
            <a:chOff x="0" y="0"/>
            <a:chExt cx="10541000" cy="3408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541000" cy="3408680"/>
            </a:xfrm>
            <a:custGeom>
              <a:avLst/>
              <a:gdLst/>
              <a:ahLst/>
              <a:cxnLst/>
              <a:rect r="r" b="b" t="t" l="l"/>
              <a:pathLst>
                <a:path h="3408680" w="10541000">
                  <a:moveTo>
                    <a:pt x="0" y="184277"/>
                  </a:moveTo>
                  <a:cubicBezTo>
                    <a:pt x="0" y="82550"/>
                    <a:pt x="82550" y="0"/>
                    <a:pt x="184277" y="0"/>
                  </a:cubicBezTo>
                  <a:lnTo>
                    <a:pt x="10356723" y="0"/>
                  </a:lnTo>
                  <a:cubicBezTo>
                    <a:pt x="10458450" y="0"/>
                    <a:pt x="10541000" y="82550"/>
                    <a:pt x="10541000" y="184277"/>
                  </a:cubicBezTo>
                  <a:lnTo>
                    <a:pt x="10541000" y="3224403"/>
                  </a:lnTo>
                  <a:cubicBezTo>
                    <a:pt x="10541000" y="3326130"/>
                    <a:pt x="10458450" y="3408680"/>
                    <a:pt x="10356723" y="3408680"/>
                  </a:cubicBezTo>
                  <a:lnTo>
                    <a:pt x="184277" y="3408680"/>
                  </a:lnTo>
                  <a:cubicBezTo>
                    <a:pt x="82550" y="3408680"/>
                    <a:pt x="0" y="3326130"/>
                    <a:pt x="0" y="322440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303020" y="6035040"/>
            <a:ext cx="822960" cy="822960"/>
            <a:chOff x="0" y="0"/>
            <a:chExt cx="1097280" cy="10972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393546" y="6125566"/>
            <a:ext cx="641909" cy="641909"/>
            <a:chOff x="0" y="0"/>
            <a:chExt cx="855878" cy="855878"/>
          </a:xfrm>
        </p:grpSpPr>
        <p:sp>
          <p:nvSpPr>
            <p:cNvPr name="Freeform 43" id="43" descr="preencoded.png"/>
            <p:cNvSpPr/>
            <p:nvPr/>
          </p:nvSpPr>
          <p:spPr>
            <a:xfrm flipH="false" flipV="false" rot="0">
              <a:off x="0" y="0"/>
              <a:ext cx="855853" cy="855853"/>
            </a:xfrm>
            <a:custGeom>
              <a:avLst/>
              <a:gdLst/>
              <a:ahLst/>
              <a:cxnLst/>
              <a:rect r="r" b="b" t="t" l="l"/>
              <a:pathLst>
                <a:path h="855853" w="855853">
                  <a:moveTo>
                    <a:pt x="0" y="0"/>
                  </a:moveTo>
                  <a:lnTo>
                    <a:pt x="855853" y="0"/>
                  </a:lnTo>
                  <a:lnTo>
                    <a:pt x="855853" y="855853"/>
                  </a:lnTo>
                  <a:lnTo>
                    <a:pt x="0" y="855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-2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8092440" y="5870448"/>
            <a:ext cx="521208" cy="521208"/>
            <a:chOff x="0" y="0"/>
            <a:chExt cx="694944" cy="69494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8E04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8092440" y="5870448"/>
            <a:ext cx="521208" cy="521208"/>
            <a:chOff x="0" y="0"/>
            <a:chExt cx="694944" cy="69494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400300" y="5925312"/>
            <a:ext cx="5623560" cy="548640"/>
            <a:chOff x="0" y="0"/>
            <a:chExt cx="7498080" cy="73152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498080" cy="731520"/>
            </a:xfrm>
            <a:custGeom>
              <a:avLst/>
              <a:gdLst/>
              <a:ahLst/>
              <a:cxnLst/>
              <a:rect r="r" b="b" t="t" l="l"/>
              <a:pathLst>
                <a:path h="731520" w="7498080">
                  <a:moveTo>
                    <a:pt x="0" y="0"/>
                  </a:moveTo>
                  <a:lnTo>
                    <a:pt x="7498080" y="0"/>
                  </a:lnTo>
                  <a:lnTo>
                    <a:pt x="749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721" r="0" b="-149721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749808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Soporte y trazabilidad</a:t>
              </a: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2491740" y="6532245"/>
            <a:ext cx="5920740" cy="1308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Escalamiento · Tickets · Historial · Dashboard de métricas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9317355" y="5614035"/>
            <a:ext cx="7905750" cy="2556510"/>
            <a:chOff x="0" y="0"/>
            <a:chExt cx="10541000" cy="340868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541000" cy="3408680"/>
            </a:xfrm>
            <a:custGeom>
              <a:avLst/>
              <a:gdLst/>
              <a:ahLst/>
              <a:cxnLst/>
              <a:rect r="r" b="b" t="t" l="l"/>
              <a:pathLst>
                <a:path h="3408680" w="10541000">
                  <a:moveTo>
                    <a:pt x="0" y="184277"/>
                  </a:moveTo>
                  <a:cubicBezTo>
                    <a:pt x="0" y="82550"/>
                    <a:pt x="82550" y="0"/>
                    <a:pt x="184277" y="0"/>
                  </a:cubicBezTo>
                  <a:lnTo>
                    <a:pt x="10356723" y="0"/>
                  </a:lnTo>
                  <a:cubicBezTo>
                    <a:pt x="10458450" y="0"/>
                    <a:pt x="10541000" y="82550"/>
                    <a:pt x="10541000" y="184277"/>
                  </a:cubicBezTo>
                  <a:lnTo>
                    <a:pt x="10541000" y="3224403"/>
                  </a:lnTo>
                  <a:cubicBezTo>
                    <a:pt x="10541000" y="3326130"/>
                    <a:pt x="10458450" y="3408680"/>
                    <a:pt x="10356723" y="3408680"/>
                  </a:cubicBezTo>
                  <a:lnTo>
                    <a:pt x="184277" y="3408680"/>
                  </a:lnTo>
                  <a:cubicBezTo>
                    <a:pt x="82550" y="3408680"/>
                    <a:pt x="0" y="3326130"/>
                    <a:pt x="0" y="322440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9669780" y="6035040"/>
            <a:ext cx="822960" cy="822960"/>
            <a:chOff x="0" y="0"/>
            <a:chExt cx="1097280" cy="10972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9760306" y="6125566"/>
            <a:ext cx="641909" cy="641909"/>
            <a:chOff x="0" y="0"/>
            <a:chExt cx="855878" cy="855878"/>
          </a:xfrm>
        </p:grpSpPr>
        <p:sp>
          <p:nvSpPr>
            <p:cNvPr name="Freeform 58" id="58" descr="preencoded.png"/>
            <p:cNvSpPr/>
            <p:nvPr/>
          </p:nvSpPr>
          <p:spPr>
            <a:xfrm flipH="false" flipV="false" rot="0">
              <a:off x="0" y="0"/>
              <a:ext cx="855853" cy="855853"/>
            </a:xfrm>
            <a:custGeom>
              <a:avLst/>
              <a:gdLst/>
              <a:ahLst/>
              <a:cxnLst/>
              <a:rect r="r" b="b" t="t" l="l"/>
              <a:pathLst>
                <a:path h="855853" w="855853">
                  <a:moveTo>
                    <a:pt x="0" y="0"/>
                  </a:moveTo>
                  <a:lnTo>
                    <a:pt x="855853" y="0"/>
                  </a:lnTo>
                  <a:lnTo>
                    <a:pt x="855853" y="855853"/>
                  </a:lnTo>
                  <a:lnTo>
                    <a:pt x="0" y="855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2" b="-2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6459200" y="5870448"/>
            <a:ext cx="521208" cy="521208"/>
            <a:chOff x="0" y="0"/>
            <a:chExt cx="694944" cy="694944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8E04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16459200" y="5870448"/>
            <a:ext cx="521208" cy="521208"/>
            <a:chOff x="0" y="0"/>
            <a:chExt cx="694944" cy="69494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0767060" y="5925312"/>
            <a:ext cx="5623560" cy="548640"/>
            <a:chOff x="0" y="0"/>
            <a:chExt cx="7498080" cy="73152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7498080" cy="731520"/>
            </a:xfrm>
            <a:custGeom>
              <a:avLst/>
              <a:gdLst/>
              <a:ahLst/>
              <a:cxnLst/>
              <a:rect r="r" b="b" t="t" l="l"/>
              <a:pathLst>
                <a:path h="731520" w="7498080">
                  <a:moveTo>
                    <a:pt x="0" y="0"/>
                  </a:moveTo>
                  <a:lnTo>
                    <a:pt x="7498080" y="0"/>
                  </a:lnTo>
                  <a:lnTo>
                    <a:pt x="749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721" r="0" b="-149721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749808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Infraestructura y calidad</a:t>
              </a:r>
            </a:p>
          </p:txBody>
        </p:sp>
      </p:grpSp>
      <p:sp>
        <p:nvSpPr>
          <p:cNvPr name="TextBox 67" id="67"/>
          <p:cNvSpPr txBox="true"/>
          <p:nvPr/>
        </p:nvSpPr>
        <p:spPr>
          <a:xfrm rot="0">
            <a:off x="10858500" y="6532245"/>
            <a:ext cx="5920740" cy="1308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Backend/API · Base de datos · Seguridad · Pruebas · Despliegue</a:t>
            </a:r>
          </a:p>
        </p:txBody>
      </p:sp>
      <p:grpSp>
        <p:nvGrpSpPr>
          <p:cNvPr name="Group 68" id="6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C666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3716000" cy="411480"/>
            <a:chOff x="0" y="0"/>
            <a:chExt cx="182880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501" r="0" b="-59950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8288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004E8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PLANIFICACIÓN INICIAL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960120"/>
            <a:ext cx="16459200" cy="960120"/>
            <a:chOff x="0" y="0"/>
            <a:chExt cx="21945600" cy="1280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945600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B211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Metodología ágil y Carta Gantt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2674620"/>
            <a:ext cx="754380" cy="754380"/>
            <a:chOff x="0" y="0"/>
            <a:chExt cx="1005840" cy="1005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3102" y="2757602"/>
            <a:ext cx="588416" cy="588416"/>
            <a:chOff x="0" y="0"/>
            <a:chExt cx="784555" cy="784555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784606" cy="784606"/>
            </a:xfrm>
            <a:custGeom>
              <a:avLst/>
              <a:gdLst/>
              <a:ahLst/>
              <a:cxnLst/>
              <a:rect r="r" b="b" t="t" l="l"/>
              <a:pathLst>
                <a:path h="784606" w="784606">
                  <a:moveTo>
                    <a:pt x="0" y="0"/>
                  </a:moveTo>
                  <a:lnTo>
                    <a:pt x="784606" y="0"/>
                  </a:lnTo>
                  <a:lnTo>
                    <a:pt x="784606" y="784606"/>
                  </a:lnTo>
                  <a:lnTo>
                    <a:pt x="0" y="78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6" b="6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988820" y="2674620"/>
            <a:ext cx="14813280" cy="822960"/>
            <a:chOff x="0" y="0"/>
            <a:chExt cx="19751040" cy="10972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751039" cy="1097280"/>
            </a:xfrm>
            <a:custGeom>
              <a:avLst/>
              <a:gdLst/>
              <a:ahLst/>
              <a:cxnLst/>
              <a:rect r="r" b="b" t="t" l="l"/>
              <a:pathLst>
                <a:path h="109728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0730" r="0" b="-30073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75104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1B211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Metodología Scrum: sprints cortos, backlog priorizado y entregas incrementales validadas con el equipo en cada iteración.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50595" y="4036695"/>
            <a:ext cx="5162550" cy="4956810"/>
            <a:chOff x="0" y="0"/>
            <a:chExt cx="6883400" cy="6609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883400" cy="6609080"/>
            </a:xfrm>
            <a:custGeom>
              <a:avLst/>
              <a:gdLst/>
              <a:ahLst/>
              <a:cxnLst/>
              <a:rect r="r" b="b" t="t" l="l"/>
              <a:pathLst>
                <a:path h="6609080" w="6883400">
                  <a:moveTo>
                    <a:pt x="0" y="183642"/>
                  </a:moveTo>
                  <a:cubicBezTo>
                    <a:pt x="0" y="82169"/>
                    <a:pt x="82169" y="0"/>
                    <a:pt x="183642" y="0"/>
                  </a:cubicBezTo>
                  <a:lnTo>
                    <a:pt x="6699758" y="0"/>
                  </a:lnTo>
                  <a:cubicBezTo>
                    <a:pt x="6801231" y="0"/>
                    <a:pt x="6883400" y="82169"/>
                    <a:pt x="6883400" y="183642"/>
                  </a:cubicBezTo>
                  <a:lnTo>
                    <a:pt x="6883400" y="6425438"/>
                  </a:lnTo>
                  <a:cubicBezTo>
                    <a:pt x="6883400" y="6526784"/>
                    <a:pt x="6801231" y="6609080"/>
                    <a:pt x="6699758" y="6609080"/>
                  </a:cubicBezTo>
                  <a:lnTo>
                    <a:pt x="183642" y="6609080"/>
                  </a:lnTo>
                  <a:cubicBezTo>
                    <a:pt x="82169" y="6609080"/>
                    <a:pt x="0" y="6526911"/>
                    <a:pt x="0" y="642543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371600" y="4457700"/>
            <a:ext cx="822960" cy="822960"/>
            <a:chOff x="0" y="0"/>
            <a:chExt cx="1097280" cy="10972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462126" y="4548226"/>
            <a:ext cx="641909" cy="641909"/>
            <a:chOff x="0" y="0"/>
            <a:chExt cx="855878" cy="855878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855853" cy="855853"/>
            </a:xfrm>
            <a:custGeom>
              <a:avLst/>
              <a:gdLst/>
              <a:ahLst/>
              <a:cxnLst/>
              <a:rect r="r" b="b" t="t" l="l"/>
              <a:pathLst>
                <a:path h="855853" w="855853">
                  <a:moveTo>
                    <a:pt x="0" y="0"/>
                  </a:moveTo>
                  <a:lnTo>
                    <a:pt x="855853" y="0"/>
                  </a:lnTo>
                  <a:lnTo>
                    <a:pt x="855853" y="855853"/>
                  </a:lnTo>
                  <a:lnTo>
                    <a:pt x="0" y="855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2" b="-2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371600" y="5486400"/>
            <a:ext cx="4320540" cy="480060"/>
            <a:chOff x="0" y="0"/>
            <a:chExt cx="5760720" cy="6400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760720" cy="640080"/>
            </a:xfrm>
            <a:custGeom>
              <a:avLst/>
              <a:gdLst/>
              <a:ahLst/>
              <a:cxnLst/>
              <a:rect r="r" b="b" t="t" l="l"/>
              <a:pathLst>
                <a:path h="64008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576072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23832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Fase 1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371600" y="5966460"/>
            <a:ext cx="4320540" cy="685800"/>
            <a:chOff x="0" y="0"/>
            <a:chExt cx="5760720" cy="9144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760720" cy="914400"/>
            </a:xfrm>
            <a:custGeom>
              <a:avLst/>
              <a:gdLst/>
              <a:ahLst/>
              <a:cxnLst/>
              <a:rect r="r" b="b" t="t" l="l"/>
              <a:pathLst>
                <a:path h="9144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2755" r="0" b="-7275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576072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B21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Diagnóstico y planificación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463040" y="6737985"/>
            <a:ext cx="4137660" cy="1994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Requerimientos, arquitectura y modelo de datos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131052" y="5829300"/>
            <a:ext cx="411480" cy="685800"/>
            <a:chOff x="0" y="0"/>
            <a:chExt cx="548640" cy="914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48640" cy="914400"/>
            </a:xfrm>
            <a:custGeom>
              <a:avLst/>
              <a:gdLst/>
              <a:ahLst/>
              <a:cxnLst/>
              <a:rect r="r" b="b" t="t" l="l"/>
              <a:pathLst>
                <a:path h="91440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63839" t="0" r="-163839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66675"/>
              <a:ext cx="548640" cy="981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2F6E6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583680" y="4046220"/>
            <a:ext cx="5143500" cy="4937760"/>
            <a:chOff x="0" y="0"/>
            <a:chExt cx="6858000" cy="65836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858000" cy="6583680"/>
            </a:xfrm>
            <a:custGeom>
              <a:avLst/>
              <a:gdLst/>
              <a:ahLst/>
              <a:cxnLst/>
              <a:rect r="r" b="b" t="t" l="l"/>
              <a:pathLst>
                <a:path h="6583680" w="685800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675120" y="0"/>
                  </a:lnTo>
                  <a:cubicBezTo>
                    <a:pt x="6776085" y="0"/>
                    <a:pt x="6858000" y="81915"/>
                    <a:pt x="6858000" y="182880"/>
                  </a:cubicBezTo>
                  <a:lnTo>
                    <a:pt x="6858000" y="6400800"/>
                  </a:lnTo>
                  <a:cubicBezTo>
                    <a:pt x="6858000" y="6501765"/>
                    <a:pt x="6776085" y="6583680"/>
                    <a:pt x="6675120" y="6583680"/>
                  </a:cubicBezTo>
                  <a:lnTo>
                    <a:pt x="182880" y="6583680"/>
                  </a:lnTo>
                  <a:cubicBezTo>
                    <a:pt x="81915" y="6583680"/>
                    <a:pt x="0" y="6501765"/>
                    <a:pt x="0" y="6400800"/>
                  </a:cubicBezTo>
                  <a:close/>
                </a:path>
              </a:pathLst>
            </a:custGeom>
            <a:solidFill>
              <a:srgbClr val="001D34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6995160" y="4457700"/>
            <a:ext cx="822960" cy="822960"/>
            <a:chOff x="0" y="0"/>
            <a:chExt cx="1097280" cy="10972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D98E04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7085686" y="4548226"/>
            <a:ext cx="641909" cy="641909"/>
            <a:chOff x="0" y="0"/>
            <a:chExt cx="855878" cy="855878"/>
          </a:xfrm>
        </p:grpSpPr>
        <p:sp>
          <p:nvSpPr>
            <p:cNvPr name="Freeform 36" id="36" descr="preencoded.png"/>
            <p:cNvSpPr/>
            <p:nvPr/>
          </p:nvSpPr>
          <p:spPr>
            <a:xfrm flipH="false" flipV="false" rot="0">
              <a:off x="0" y="0"/>
              <a:ext cx="855853" cy="855853"/>
            </a:xfrm>
            <a:custGeom>
              <a:avLst/>
              <a:gdLst/>
              <a:ahLst/>
              <a:cxnLst/>
              <a:rect r="r" b="b" t="t" l="l"/>
              <a:pathLst>
                <a:path h="855853" w="855853">
                  <a:moveTo>
                    <a:pt x="0" y="0"/>
                  </a:moveTo>
                  <a:lnTo>
                    <a:pt x="855853" y="0"/>
                  </a:lnTo>
                  <a:lnTo>
                    <a:pt x="855853" y="855853"/>
                  </a:lnTo>
                  <a:lnTo>
                    <a:pt x="0" y="855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2" b="-2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6995160" y="5486400"/>
            <a:ext cx="4320540" cy="480060"/>
            <a:chOff x="0" y="0"/>
            <a:chExt cx="5760720" cy="6400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760720" cy="640080"/>
            </a:xfrm>
            <a:custGeom>
              <a:avLst/>
              <a:gdLst/>
              <a:ahLst/>
              <a:cxnLst/>
              <a:rect r="r" b="b" t="t" l="l"/>
              <a:pathLst>
                <a:path h="64008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19050"/>
              <a:ext cx="576072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D98E0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Fase 2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6995160" y="5966460"/>
            <a:ext cx="4320540" cy="685800"/>
            <a:chOff x="0" y="0"/>
            <a:chExt cx="5760720" cy="9144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760720" cy="914400"/>
            </a:xfrm>
            <a:custGeom>
              <a:avLst/>
              <a:gdLst/>
              <a:ahLst/>
              <a:cxnLst/>
              <a:rect r="r" b="b" t="t" l="l"/>
              <a:pathLst>
                <a:path h="9144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2755" r="0" b="-7275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576072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Desarrollo e implementación</a:t>
              </a: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7086600" y="6737985"/>
            <a:ext cx="4137660" cy="1994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CFE2DD"/>
                </a:solidFill>
                <a:latin typeface="Calibri (MS)"/>
                <a:ea typeface="Calibri (MS)"/>
                <a:cs typeface="Calibri (MS)"/>
                <a:sym typeface="Calibri (MS)"/>
              </a:rPr>
              <a:t>Motor RAG, chatbot, tickets, panel y seguridad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1754612" y="5829300"/>
            <a:ext cx="411480" cy="685800"/>
            <a:chOff x="0" y="0"/>
            <a:chExt cx="548640" cy="914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48640" cy="914400"/>
            </a:xfrm>
            <a:custGeom>
              <a:avLst/>
              <a:gdLst/>
              <a:ahLst/>
              <a:cxnLst/>
              <a:rect r="r" b="b" t="t" l="l"/>
              <a:pathLst>
                <a:path h="91440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63839" t="0" r="-163839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66675"/>
              <a:ext cx="548640" cy="981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2F6E6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197715" y="4036695"/>
            <a:ext cx="5162550" cy="4956810"/>
            <a:chOff x="0" y="0"/>
            <a:chExt cx="6883400" cy="66090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883400" cy="6609080"/>
            </a:xfrm>
            <a:custGeom>
              <a:avLst/>
              <a:gdLst/>
              <a:ahLst/>
              <a:cxnLst/>
              <a:rect r="r" b="b" t="t" l="l"/>
              <a:pathLst>
                <a:path h="6609080" w="6883400">
                  <a:moveTo>
                    <a:pt x="0" y="183642"/>
                  </a:moveTo>
                  <a:cubicBezTo>
                    <a:pt x="0" y="82169"/>
                    <a:pt x="82169" y="0"/>
                    <a:pt x="183642" y="0"/>
                  </a:cubicBezTo>
                  <a:lnTo>
                    <a:pt x="6699758" y="0"/>
                  </a:lnTo>
                  <a:cubicBezTo>
                    <a:pt x="6801231" y="0"/>
                    <a:pt x="6883400" y="82169"/>
                    <a:pt x="6883400" y="183642"/>
                  </a:cubicBezTo>
                  <a:lnTo>
                    <a:pt x="6883400" y="6425438"/>
                  </a:lnTo>
                  <a:cubicBezTo>
                    <a:pt x="6883400" y="6526784"/>
                    <a:pt x="6801231" y="6609080"/>
                    <a:pt x="6699758" y="6609080"/>
                  </a:cubicBezTo>
                  <a:lnTo>
                    <a:pt x="183642" y="6609080"/>
                  </a:lnTo>
                  <a:cubicBezTo>
                    <a:pt x="82169" y="6609080"/>
                    <a:pt x="0" y="6526911"/>
                    <a:pt x="0" y="642543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0D6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2618720" y="4457700"/>
            <a:ext cx="822960" cy="822960"/>
            <a:chOff x="0" y="0"/>
            <a:chExt cx="1097280" cy="109728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2709246" y="4548226"/>
            <a:ext cx="641909" cy="641909"/>
            <a:chOff x="0" y="0"/>
            <a:chExt cx="855878" cy="855878"/>
          </a:xfrm>
        </p:grpSpPr>
        <p:sp>
          <p:nvSpPr>
            <p:cNvPr name="Freeform 52" id="52" descr="preencoded.png"/>
            <p:cNvSpPr/>
            <p:nvPr/>
          </p:nvSpPr>
          <p:spPr>
            <a:xfrm flipH="false" flipV="false" rot="0">
              <a:off x="0" y="0"/>
              <a:ext cx="855853" cy="855853"/>
            </a:xfrm>
            <a:custGeom>
              <a:avLst/>
              <a:gdLst/>
              <a:ahLst/>
              <a:cxnLst/>
              <a:rect r="r" b="b" t="t" l="l"/>
              <a:pathLst>
                <a:path h="855853" w="855853">
                  <a:moveTo>
                    <a:pt x="0" y="0"/>
                  </a:moveTo>
                  <a:lnTo>
                    <a:pt x="855853" y="0"/>
                  </a:lnTo>
                  <a:lnTo>
                    <a:pt x="855853" y="855853"/>
                  </a:lnTo>
                  <a:lnTo>
                    <a:pt x="0" y="855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-2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2618720" y="5486400"/>
            <a:ext cx="4320540" cy="480060"/>
            <a:chOff x="0" y="0"/>
            <a:chExt cx="5760720" cy="64008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5760720" cy="640080"/>
            </a:xfrm>
            <a:custGeom>
              <a:avLst/>
              <a:gdLst/>
              <a:ahLst/>
              <a:cxnLst/>
              <a:rect r="r" b="b" t="t" l="l"/>
              <a:pathLst>
                <a:path h="64008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19050"/>
              <a:ext cx="576072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23832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Fase 3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2618720" y="5966460"/>
            <a:ext cx="4320540" cy="685800"/>
            <a:chOff x="0" y="0"/>
            <a:chExt cx="5760720" cy="9144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760720" cy="914400"/>
            </a:xfrm>
            <a:custGeom>
              <a:avLst/>
              <a:gdLst/>
              <a:ahLst/>
              <a:cxnLst/>
              <a:rect r="r" b="b" t="t" l="l"/>
              <a:pathLst>
                <a:path h="9144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2755" r="0" b="-7275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576072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B21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Pruebas, cierre y entrega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2710160" y="6737985"/>
            <a:ext cx="4137660" cy="1994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C6662"/>
                </a:solidFill>
                <a:latin typeface="Calibri (MS)"/>
                <a:ea typeface="Calibri (MS)"/>
                <a:cs typeface="Calibri (MS)"/>
                <a:sym typeface="Calibri (MS)"/>
              </a:rPr>
              <a:t>Plan de pruebas, despliegue y documentación final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C666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057400" y="6583680"/>
            <a:ext cx="6858000" cy="6858000"/>
            <a:chOff x="0" y="0"/>
            <a:chExt cx="9144000" cy="914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9144000">
                  <a:moveTo>
                    <a:pt x="0" y="4572000"/>
                  </a:moveTo>
                  <a:cubicBezTo>
                    <a:pt x="0" y="2046986"/>
                    <a:pt x="2046986" y="0"/>
                    <a:pt x="4572000" y="0"/>
                  </a:cubicBezTo>
                  <a:cubicBezTo>
                    <a:pt x="7097014" y="0"/>
                    <a:pt x="9144000" y="2046986"/>
                    <a:pt x="9144000" y="4572000"/>
                  </a:cubicBezTo>
                  <a:cubicBezTo>
                    <a:pt x="9144000" y="7097014"/>
                    <a:pt x="7097014" y="9144000"/>
                    <a:pt x="4572000" y="9144000"/>
                  </a:cubicBezTo>
                  <a:cubicBezTo>
                    <a:pt x="2046986" y="9144000"/>
                    <a:pt x="0" y="7097014"/>
                    <a:pt x="0" y="457200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0120" y="754380"/>
            <a:ext cx="8229600" cy="411480"/>
            <a:chOff x="0" y="0"/>
            <a:chExt cx="10972800" cy="5486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09728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D98E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CIERRE FASE 1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60120" y="1165860"/>
            <a:ext cx="13716000" cy="1097280"/>
            <a:chOff x="0" y="0"/>
            <a:chExt cx="1828800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82880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8288000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Conclusiones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60120" y="2948940"/>
            <a:ext cx="754380" cy="754380"/>
            <a:chOff x="0" y="0"/>
            <a:chExt cx="1005840" cy="10058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43102" y="3031922"/>
            <a:ext cx="588416" cy="588416"/>
            <a:chOff x="0" y="0"/>
            <a:chExt cx="784555" cy="784555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784606" cy="784606"/>
            </a:xfrm>
            <a:custGeom>
              <a:avLst/>
              <a:gdLst/>
              <a:ahLst/>
              <a:cxnLst/>
              <a:rect r="r" b="b" t="t" l="l"/>
              <a:pathLst>
                <a:path h="784606" w="784606">
                  <a:moveTo>
                    <a:pt x="0" y="0"/>
                  </a:moveTo>
                  <a:lnTo>
                    <a:pt x="784606" y="0"/>
                  </a:lnTo>
                  <a:lnTo>
                    <a:pt x="784606" y="784606"/>
                  </a:lnTo>
                  <a:lnTo>
                    <a:pt x="0" y="78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6" b="6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057400" y="2866644"/>
            <a:ext cx="14950440" cy="1028700"/>
            <a:chOff x="0" y="0"/>
            <a:chExt cx="19933920" cy="1371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3392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9933920">
                  <a:moveTo>
                    <a:pt x="0" y="0"/>
                  </a:moveTo>
                  <a:lnTo>
                    <a:pt x="19933920" y="0"/>
                  </a:lnTo>
                  <a:lnTo>
                    <a:pt x="1993392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33182" r="0" b="-233182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19933920" cy="1419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E6EFE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El problema está validado con evidencia real de la industria, no solo con una suposición.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60120" y="4347972"/>
            <a:ext cx="754380" cy="754380"/>
            <a:chOff x="0" y="0"/>
            <a:chExt cx="1005840" cy="10058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043102" y="4430954"/>
            <a:ext cx="588416" cy="588416"/>
            <a:chOff x="0" y="0"/>
            <a:chExt cx="784555" cy="784555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784606" cy="784606"/>
            </a:xfrm>
            <a:custGeom>
              <a:avLst/>
              <a:gdLst/>
              <a:ahLst/>
              <a:cxnLst/>
              <a:rect r="r" b="b" t="t" l="l"/>
              <a:pathLst>
                <a:path h="784606" w="784606">
                  <a:moveTo>
                    <a:pt x="0" y="0"/>
                  </a:moveTo>
                  <a:lnTo>
                    <a:pt x="784606" y="0"/>
                  </a:lnTo>
                  <a:lnTo>
                    <a:pt x="784606" y="784606"/>
                  </a:lnTo>
                  <a:lnTo>
                    <a:pt x="0" y="78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6" b="6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2057400" y="4265676"/>
            <a:ext cx="14950440" cy="1028700"/>
            <a:chOff x="0" y="0"/>
            <a:chExt cx="19933920" cy="1371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93392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9933920">
                  <a:moveTo>
                    <a:pt x="0" y="0"/>
                  </a:moveTo>
                  <a:lnTo>
                    <a:pt x="19933920" y="0"/>
                  </a:lnTo>
                  <a:lnTo>
                    <a:pt x="1993392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33182" r="0" b="-233182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19933920" cy="1419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E6EFE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SupportAI tiene objetivos, alcance y entregables claramente definidos, y es técnicamente factible en 15 semanas.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60120" y="5747004"/>
            <a:ext cx="754380" cy="754380"/>
            <a:chOff x="0" y="0"/>
            <a:chExt cx="1005840" cy="10058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043102" y="5829986"/>
            <a:ext cx="588416" cy="588416"/>
            <a:chOff x="0" y="0"/>
            <a:chExt cx="784555" cy="784555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784606" cy="784606"/>
            </a:xfrm>
            <a:custGeom>
              <a:avLst/>
              <a:gdLst/>
              <a:ahLst/>
              <a:cxnLst/>
              <a:rect r="r" b="b" t="t" l="l"/>
              <a:pathLst>
                <a:path h="784606" w="784606">
                  <a:moveTo>
                    <a:pt x="0" y="0"/>
                  </a:moveTo>
                  <a:lnTo>
                    <a:pt x="784606" y="0"/>
                  </a:lnTo>
                  <a:lnTo>
                    <a:pt x="784606" y="784606"/>
                  </a:lnTo>
                  <a:lnTo>
                    <a:pt x="0" y="78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6" b="6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2057400" y="5664708"/>
            <a:ext cx="14950440" cy="1028700"/>
            <a:chOff x="0" y="0"/>
            <a:chExt cx="19933920" cy="13716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993392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9933920">
                  <a:moveTo>
                    <a:pt x="0" y="0"/>
                  </a:moveTo>
                  <a:lnTo>
                    <a:pt x="19933920" y="0"/>
                  </a:lnTo>
                  <a:lnTo>
                    <a:pt x="1993392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33182" r="0" b="-233182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19933920" cy="1419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E6EFE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El proyecto se alinea directamente con las competencias del perfil de egreso de Ingeniería en Informática.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60120" y="7146036"/>
            <a:ext cx="754380" cy="754380"/>
            <a:chOff x="0" y="0"/>
            <a:chExt cx="1005840" cy="10058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004E8B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043102" y="7229018"/>
            <a:ext cx="588416" cy="588416"/>
            <a:chOff x="0" y="0"/>
            <a:chExt cx="784555" cy="784555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784606" cy="784606"/>
            </a:xfrm>
            <a:custGeom>
              <a:avLst/>
              <a:gdLst/>
              <a:ahLst/>
              <a:cxnLst/>
              <a:rect r="r" b="b" t="t" l="l"/>
              <a:pathLst>
                <a:path h="784606" w="784606">
                  <a:moveTo>
                    <a:pt x="0" y="0"/>
                  </a:moveTo>
                  <a:lnTo>
                    <a:pt x="784606" y="0"/>
                  </a:lnTo>
                  <a:lnTo>
                    <a:pt x="784606" y="784606"/>
                  </a:lnTo>
                  <a:lnTo>
                    <a:pt x="0" y="78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6" b="6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2057400" y="7063740"/>
            <a:ext cx="14950440" cy="1028700"/>
            <a:chOff x="0" y="0"/>
            <a:chExt cx="19933920" cy="13716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993392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9933920">
                  <a:moveTo>
                    <a:pt x="0" y="0"/>
                  </a:moveTo>
                  <a:lnTo>
                    <a:pt x="19933920" y="0"/>
                  </a:lnTo>
                  <a:lnTo>
                    <a:pt x="1993392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33182" r="0" b="-23318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9933920" cy="1419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E6EFE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Contamos con una metodología (Scrum) y una planificación (Carta Gantt) que sustentan la ejecución de la Fase 2.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DAHUAO9PFmw</dc:identifier>
  <dcterms:modified xsi:type="dcterms:W3CDTF">2011-08-01T06:04:30Z</dcterms:modified>
  <cp:revision>1</cp:revision>
  <dc:title>Presentacion Proyecto</dc:title>
</cp:coreProperties>
</file>