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8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46888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84880" y="6309360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891540"/>
            <a:ext cx="960120" cy="960120"/>
            <a:chOff x="0" y="0"/>
            <a:chExt cx="128016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5733" y="891540"/>
            <a:ext cx="748894" cy="748894"/>
            <a:chOff x="0" y="0"/>
            <a:chExt cx="998525" cy="99852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25980" y="891540"/>
            <a:ext cx="8229600" cy="685800"/>
            <a:chOff x="0" y="0"/>
            <a:chExt cx="109728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4E8B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972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566160"/>
            <a:ext cx="14401800" cy="1783080"/>
            <a:chOff x="0" y="0"/>
            <a:chExt cx="192024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920240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SupportAI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143500"/>
            <a:ext cx="13716000" cy="1234440"/>
            <a:chOff x="0" y="0"/>
            <a:chExt cx="1828800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28800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E2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inteligente de atención y soporte mediante asistente</a:t>
              </a:r>
            </a:p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E2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conversacional basado en inteligencia artificial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" y="6858000"/>
            <a:ext cx="10972800" cy="548640"/>
            <a:chOff x="0" y="0"/>
            <a:chExt cx="146304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4630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— Definición del Proyecto APT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7882890"/>
            <a:ext cx="12344400" cy="480060"/>
            <a:chOff x="0" y="0"/>
            <a:chExt cx="164592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FB3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Benjamin Vega - Nicolas Raguileo - Martin Irarrazabal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004E8B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DATOS DEL DOCUMENTO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Información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74320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3102" y="2826182"/>
            <a:ext cx="588416" cy="588416"/>
            <a:chOff x="0" y="0"/>
            <a:chExt cx="784555" cy="78455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57400" y="2715768"/>
            <a:ext cx="4937760" cy="411480"/>
            <a:chOff x="0" y="0"/>
            <a:chExt cx="6583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C66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Nombre del proyecto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3072384"/>
            <a:ext cx="11658600" cy="480060"/>
            <a:chOff x="0" y="0"/>
            <a:chExt cx="155448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55448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SupportAI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" y="4142232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3102" y="4225214"/>
            <a:ext cx="588416" cy="588416"/>
            <a:chOff x="0" y="0"/>
            <a:chExt cx="784555" cy="78455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57400" y="4114800"/>
            <a:ext cx="4937760" cy="411480"/>
            <a:chOff x="0" y="0"/>
            <a:chExt cx="6583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C66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Grupo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57400" y="4471416"/>
            <a:ext cx="11658600" cy="480060"/>
            <a:chOff x="0" y="0"/>
            <a:chExt cx="155448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55448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N°05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5541264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43102" y="5624246"/>
            <a:ext cx="588416" cy="588416"/>
            <a:chOff x="0" y="0"/>
            <a:chExt cx="784555" cy="784555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057400" y="5513832"/>
            <a:ext cx="4937760" cy="411480"/>
            <a:chOff x="0" y="0"/>
            <a:chExt cx="65836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C66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5870448"/>
            <a:ext cx="11658600" cy="480060"/>
            <a:chOff x="0" y="0"/>
            <a:chExt cx="1554480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55448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ago — 26 nov 2026 (15 semanas)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" y="6940296"/>
            <a:ext cx="754380" cy="754380"/>
            <a:chOff x="0" y="0"/>
            <a:chExt cx="100584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3102" y="7023278"/>
            <a:ext cx="588416" cy="588416"/>
            <a:chOff x="0" y="0"/>
            <a:chExt cx="784555" cy="784555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057400" y="6912864"/>
            <a:ext cx="4937760" cy="411480"/>
            <a:chOff x="0" y="0"/>
            <a:chExt cx="658368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5C66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Áreas de desempeño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7400" y="7269480"/>
            <a:ext cx="11658600" cy="480060"/>
            <a:chOff x="0" y="0"/>
            <a:chExt cx="1554480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554480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de Software · IA · Bases de Datos · Seguridad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167360" y="2674620"/>
            <a:ext cx="4251960" cy="5554980"/>
            <a:chOff x="0" y="0"/>
            <a:chExt cx="5669280" cy="7406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69280" cy="7406640"/>
            </a:xfrm>
            <a:custGeom>
              <a:avLst/>
              <a:gdLst/>
              <a:ahLst/>
              <a:cxnLst/>
              <a:rect r="r" b="b" t="t" l="l"/>
              <a:pathLst>
                <a:path h="7406640" w="5669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449824" y="0"/>
                  </a:lnTo>
                  <a:cubicBezTo>
                    <a:pt x="5570982" y="0"/>
                    <a:pt x="5669280" y="98298"/>
                    <a:pt x="5669280" y="219456"/>
                  </a:cubicBezTo>
                  <a:lnTo>
                    <a:pt x="5669280" y="7187184"/>
                  </a:lnTo>
                  <a:cubicBezTo>
                    <a:pt x="5669280" y="7308342"/>
                    <a:pt x="5570982" y="7406640"/>
                    <a:pt x="5449824" y="7406640"/>
                  </a:cubicBezTo>
                  <a:lnTo>
                    <a:pt x="219456" y="7406640"/>
                  </a:lnTo>
                  <a:cubicBezTo>
                    <a:pt x="98298" y="7406640"/>
                    <a:pt x="0" y="7308342"/>
                    <a:pt x="0" y="7187184"/>
                  </a:cubicBezTo>
                  <a:close/>
                </a:path>
              </a:pathLst>
            </a:custGeom>
            <a:solidFill>
              <a:srgbClr val="001D3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578840" y="3017520"/>
            <a:ext cx="3566160" cy="411480"/>
            <a:chOff x="0" y="0"/>
            <a:chExt cx="47548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25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COMPETENCIAS CLAVE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670280" y="3642360"/>
            <a:ext cx="3383280" cy="433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 soluciones informáticas integrales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Construcción de modelos de datos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de soluciones sistémicas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Resolución de vulnerabilidades de seguridad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Certificación de productos y procesos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Del problema al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665095"/>
            <a:ext cx="5093970" cy="5368290"/>
            <a:chOff x="0" y="0"/>
            <a:chExt cx="6791960" cy="7157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1961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974078"/>
                  </a:lnTo>
                  <a:cubicBezTo>
                    <a:pt x="6791961" y="7075424"/>
                    <a:pt x="6709791" y="7157720"/>
                    <a:pt x="6608318" y="7157720"/>
                  </a:cubicBezTo>
                  <a:lnTo>
                    <a:pt x="183642" y="7157720"/>
                  </a:lnTo>
                  <a:cubicBezTo>
                    <a:pt x="82169" y="7157720"/>
                    <a:pt x="0" y="7075551"/>
                    <a:pt x="0" y="697407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08610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2126" y="3176626"/>
            <a:ext cx="641909" cy="641909"/>
            <a:chOff x="0" y="0"/>
            <a:chExt cx="855878" cy="85587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4114800"/>
            <a:ext cx="4251960" cy="548640"/>
            <a:chOff x="0" y="0"/>
            <a:chExt cx="56692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669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Contexto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" y="4730115"/>
            <a:ext cx="4069080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Las organizaciones reciben un alto volumen de consultas repetitivas a través de canales tradicionales de atención.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05575" y="2665095"/>
            <a:ext cx="5093970" cy="5368290"/>
            <a:chOff x="0" y="0"/>
            <a:chExt cx="6791960" cy="7157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1961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974078"/>
                  </a:lnTo>
                  <a:cubicBezTo>
                    <a:pt x="6791961" y="7075424"/>
                    <a:pt x="6709791" y="7157720"/>
                    <a:pt x="6608318" y="7157720"/>
                  </a:cubicBezTo>
                  <a:lnTo>
                    <a:pt x="183642" y="7157720"/>
                  </a:lnTo>
                  <a:cubicBezTo>
                    <a:pt x="82169" y="7157720"/>
                    <a:pt x="0" y="7075551"/>
                    <a:pt x="0" y="697407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26580" y="308610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17106" y="3176626"/>
            <a:ext cx="641909" cy="641909"/>
            <a:chOff x="0" y="0"/>
            <a:chExt cx="855878" cy="85587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26580" y="4114800"/>
            <a:ext cx="4251960" cy="548640"/>
            <a:chOff x="0" y="0"/>
            <a:chExt cx="566928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669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18020" y="4730115"/>
            <a:ext cx="4069080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Diseñar e implementar una plataforma con un asistente de IA que resuelva consultas automáticamente y escale a un humano cuando corresponda.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60555" y="2665095"/>
            <a:ext cx="5093970" cy="5368290"/>
            <a:chOff x="0" y="0"/>
            <a:chExt cx="6791960" cy="7157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1961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974078"/>
                  </a:lnTo>
                  <a:cubicBezTo>
                    <a:pt x="6791961" y="7075424"/>
                    <a:pt x="6709791" y="7157720"/>
                    <a:pt x="6608318" y="7157720"/>
                  </a:cubicBezTo>
                  <a:lnTo>
                    <a:pt x="183642" y="7157720"/>
                  </a:lnTo>
                  <a:cubicBezTo>
                    <a:pt x="82169" y="7157720"/>
                    <a:pt x="0" y="7075551"/>
                    <a:pt x="0" y="697407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81560" y="308610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72086" y="3176626"/>
            <a:ext cx="641909" cy="641909"/>
            <a:chOff x="0" y="0"/>
            <a:chExt cx="855878" cy="855878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481560" y="4114800"/>
            <a:ext cx="4251960" cy="548640"/>
            <a:chOff x="0" y="0"/>
            <a:chExt cx="56692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669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Alcance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73000" y="4730115"/>
            <a:ext cx="4069080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web, motor RAG, control de confianza, tickets, trazabilidad, panel administrativo, seguridad y pruebas.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ANÁLISIS PRELIMINAR DEL CASO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problema, con evidencia real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06040"/>
            <a:ext cx="16184880" cy="685800"/>
            <a:chOff x="0" y="0"/>
            <a:chExt cx="21579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equipos de atención enfrentan una presión creciente por volumen de consultas y expectativas de respuesta cada vez más rápidas: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3703320"/>
            <a:ext cx="5143500" cy="3977640"/>
            <a:chOff x="0" y="0"/>
            <a:chExt cx="6858000" cy="5303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58000" cy="5303520"/>
            </a:xfrm>
            <a:custGeom>
              <a:avLst/>
              <a:gdLst/>
              <a:ahLst/>
              <a:cxnLst/>
              <a:rect r="r" b="b" t="t" l="l"/>
              <a:pathLst>
                <a:path h="53035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5120640"/>
                  </a:lnTo>
                  <a:cubicBezTo>
                    <a:pt x="6858000" y="5221605"/>
                    <a:pt x="6776085" y="5303520"/>
                    <a:pt x="667512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001D3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4046220"/>
            <a:ext cx="4594860" cy="1508760"/>
            <a:chOff x="0" y="0"/>
            <a:chExt cx="612648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40" r="0" b="-93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126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D98E0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78%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1620" y="5562600"/>
            <a:ext cx="40005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 los consumidores compra al primer negocio que le responde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83680" y="3703320"/>
            <a:ext cx="5143500" cy="3977640"/>
            <a:chOff x="0" y="0"/>
            <a:chExt cx="6858000" cy="5303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5303520"/>
            </a:xfrm>
            <a:custGeom>
              <a:avLst/>
              <a:gdLst/>
              <a:ahLst/>
              <a:cxnLst/>
              <a:rect r="r" b="b" t="t" l="l"/>
              <a:pathLst>
                <a:path h="53035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5120640"/>
                  </a:lnTo>
                  <a:cubicBezTo>
                    <a:pt x="6858000" y="5221605"/>
                    <a:pt x="6776085" y="5303520"/>
                    <a:pt x="667512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001D3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0" y="4046220"/>
            <a:ext cx="4594860" cy="1508760"/>
            <a:chOff x="0" y="0"/>
            <a:chExt cx="6126480" cy="2011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26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40" r="0" b="-93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26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D98E0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21.9h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155180" y="5562600"/>
            <a:ext cx="40005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tiempo promedio de resolución en canales atendidos por humanos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07240" y="3703320"/>
            <a:ext cx="5143500" cy="3977640"/>
            <a:chOff x="0" y="0"/>
            <a:chExt cx="6858000" cy="5303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0" cy="5303520"/>
            </a:xfrm>
            <a:custGeom>
              <a:avLst/>
              <a:gdLst/>
              <a:ahLst/>
              <a:cxnLst/>
              <a:rect r="r" b="b" t="t" l="l"/>
              <a:pathLst>
                <a:path h="530352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5120640"/>
                  </a:lnTo>
                  <a:cubicBezTo>
                    <a:pt x="6858000" y="5221605"/>
                    <a:pt x="6776085" y="5303520"/>
                    <a:pt x="667512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001D3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481560" y="4046220"/>
            <a:ext cx="4594860" cy="1508760"/>
            <a:chOff x="0" y="0"/>
            <a:chExt cx="612648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6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40" r="0" b="-93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126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D98E0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70%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778740" y="5562600"/>
            <a:ext cx="40005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 las consultas de soporte son repetitivas y automatizables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DEFINICIÓN DEL PRODUCTO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 y alcance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74620"/>
            <a:ext cx="16322040" cy="1851660"/>
            <a:chOff x="0" y="0"/>
            <a:chExt cx="2176272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1762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579839" y="0"/>
                  </a:lnTo>
                  <a:cubicBezTo>
                    <a:pt x="21680804" y="0"/>
                    <a:pt x="21762720" y="81915"/>
                    <a:pt x="21762720" y="182880"/>
                  </a:cubicBezTo>
                  <a:lnTo>
                    <a:pt x="21762720" y="2286000"/>
                  </a:lnTo>
                  <a:cubicBezTo>
                    <a:pt x="21762720" y="2386965"/>
                    <a:pt x="21680804" y="2468880"/>
                    <a:pt x="21579839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880360"/>
            <a:ext cx="15499080" cy="1440180"/>
            <a:chOff x="0" y="0"/>
            <a:chExt cx="20665440" cy="192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543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696" r="0" b="-15969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665440" cy="1967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e implementar una plataforma web de atención y soporte con un asistente conversacional basado en IA, que resuelva consultas automáticamente y las escale a atención humana cuando sea necesario, garantizando trazabilidad, calidad y seguridad.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4937760"/>
            <a:ext cx="6858000" cy="411480"/>
            <a:chOff x="0" y="0"/>
            <a:chExt cx="91440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2F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INCLUYE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404104"/>
            <a:ext cx="438912" cy="438912"/>
            <a:chOff x="0" y="0"/>
            <a:chExt cx="585216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F6E6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8402" y="5452386"/>
            <a:ext cx="342348" cy="342348"/>
            <a:chOff x="0" y="0"/>
            <a:chExt cx="456463" cy="45646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5294376"/>
            <a:ext cx="6858000" cy="480060"/>
            <a:chOff x="0" y="0"/>
            <a:chExt cx="91440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con 3 roles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5980176"/>
            <a:ext cx="438912" cy="438912"/>
            <a:chOff x="0" y="0"/>
            <a:chExt cx="585216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F6E6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08402" y="6028458"/>
            <a:ext cx="342348" cy="342348"/>
            <a:chOff x="0" y="0"/>
            <a:chExt cx="456463" cy="456463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77340" y="5870448"/>
            <a:ext cx="6858000" cy="480060"/>
            <a:chOff x="0" y="0"/>
            <a:chExt cx="91440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Motor RAG + control de confianza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6556248"/>
            <a:ext cx="438912" cy="438912"/>
            <a:chOff x="0" y="0"/>
            <a:chExt cx="585216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F6E6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8402" y="6604530"/>
            <a:ext cx="342348" cy="342348"/>
            <a:chOff x="0" y="0"/>
            <a:chExt cx="456463" cy="456463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77340" y="6446520"/>
            <a:ext cx="6858000" cy="480060"/>
            <a:chOff x="0" y="0"/>
            <a:chExt cx="91440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Tickets y escalamiento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0120" y="7132320"/>
            <a:ext cx="438912" cy="438912"/>
            <a:chOff x="0" y="0"/>
            <a:chExt cx="585216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F6E6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8402" y="7180602"/>
            <a:ext cx="342348" cy="342348"/>
            <a:chOff x="0" y="0"/>
            <a:chExt cx="456463" cy="456463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7340" y="7022592"/>
            <a:ext cx="6858000" cy="480060"/>
            <a:chOff x="0" y="0"/>
            <a:chExt cx="914400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Trazabilidad e historial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7708392"/>
            <a:ext cx="438912" cy="438912"/>
            <a:chOff x="0" y="0"/>
            <a:chExt cx="585216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F6E6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8402" y="7756674"/>
            <a:ext cx="342348" cy="342348"/>
            <a:chOff x="0" y="0"/>
            <a:chExt cx="456463" cy="456463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77340" y="7598664"/>
            <a:ext cx="6858000" cy="480060"/>
            <a:chOff x="0" y="0"/>
            <a:chExt cx="914400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Seguridad, auditoría y pruebas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52560" y="4937760"/>
            <a:ext cx="6858000" cy="411480"/>
            <a:chOff x="0" y="0"/>
            <a:chExt cx="91440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B850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INCLUYE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52560" y="5404104"/>
            <a:ext cx="438912" cy="438912"/>
            <a:chOff x="0" y="0"/>
            <a:chExt cx="585216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00842" y="5452386"/>
            <a:ext cx="342348" cy="342348"/>
            <a:chOff x="0" y="0"/>
            <a:chExt cx="456463" cy="456463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2447" y="5452386"/>
            <a:ext cx="7269480" cy="480060"/>
            <a:chOff x="0" y="0"/>
            <a:chExt cx="969264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 con sistemas reales externos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052560" y="5980176"/>
            <a:ext cx="438912" cy="438912"/>
            <a:chOff x="0" y="0"/>
            <a:chExt cx="585216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100842" y="6028458"/>
            <a:ext cx="342348" cy="342348"/>
            <a:chOff x="0" y="0"/>
            <a:chExt cx="456463" cy="456463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72447" y="5980176"/>
            <a:ext cx="7269480" cy="480060"/>
            <a:chOff x="0" y="0"/>
            <a:chExt cx="969264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Operación a escala productiva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52560" y="6556248"/>
            <a:ext cx="438912" cy="438912"/>
            <a:chOff x="0" y="0"/>
            <a:chExt cx="585216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100842" y="6604530"/>
            <a:ext cx="342348" cy="342348"/>
            <a:chOff x="0" y="0"/>
            <a:chExt cx="456463" cy="456463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72447" y="6535674"/>
            <a:ext cx="7269480" cy="480060"/>
            <a:chOff x="0" y="0"/>
            <a:chExt cx="969264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Soporte multiidioma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52560" y="7132320"/>
            <a:ext cx="438912" cy="438912"/>
            <a:chOff x="0" y="0"/>
            <a:chExt cx="585216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00842" y="7180602"/>
            <a:ext cx="342348" cy="342348"/>
            <a:chOff x="0" y="0"/>
            <a:chExt cx="456463" cy="456463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456438" cy="456438"/>
            </a:xfrm>
            <a:custGeom>
              <a:avLst/>
              <a:gdLst/>
              <a:ahLst/>
              <a:cxnLst/>
              <a:rect r="r" b="b" t="t" l="l"/>
              <a:pathLst>
                <a:path h="456438" w="456438">
                  <a:moveTo>
                    <a:pt x="0" y="0"/>
                  </a:moveTo>
                  <a:lnTo>
                    <a:pt x="456438" y="0"/>
                  </a:lnTo>
                  <a:lnTo>
                    <a:pt x="456438" y="456438"/>
                  </a:lnTo>
                  <a:lnTo>
                    <a:pt x="0" y="456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72447" y="7132320"/>
            <a:ext cx="7269480" cy="480060"/>
            <a:chOff x="0" y="0"/>
            <a:chExt cx="9692640" cy="640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692640" cy="640080"/>
            </a:xfrm>
            <a:custGeom>
              <a:avLst/>
              <a:gdLst/>
              <a:ahLst/>
              <a:cxnLst/>
              <a:rect r="r" b="b" t="t" l="l"/>
              <a:pathLst>
                <a:path h="6400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69264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Canales adicionales (WhatsApp, correo)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DESCUBRIMIENTO Y VISIÓN DEL PRODUCTO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Actores y sus necesidades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870835"/>
            <a:ext cx="5093970" cy="5093970"/>
            <a:chOff x="0" y="0"/>
            <a:chExt cx="6791960" cy="6791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1961" cy="6791961"/>
            </a:xfrm>
            <a:custGeom>
              <a:avLst/>
              <a:gdLst/>
              <a:ahLst/>
              <a:cxnLst/>
              <a:rect r="r" b="b" t="t" l="l"/>
              <a:pathLst>
                <a:path h="6791961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608318"/>
                  </a:lnTo>
                  <a:cubicBezTo>
                    <a:pt x="6791961" y="6709664"/>
                    <a:pt x="6709791" y="6791961"/>
                    <a:pt x="6608318" y="6791961"/>
                  </a:cubicBezTo>
                  <a:lnTo>
                    <a:pt x="183642" y="6791961"/>
                  </a:lnTo>
                  <a:cubicBezTo>
                    <a:pt x="82169" y="6791960"/>
                    <a:pt x="0" y="6709791"/>
                    <a:pt x="0" y="66083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948940" y="3291840"/>
            <a:ext cx="1097280" cy="1097280"/>
            <a:chOff x="0" y="0"/>
            <a:chExt cx="14630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69641" y="3412541"/>
            <a:ext cx="855878" cy="855878"/>
            <a:chOff x="0" y="0"/>
            <a:chExt cx="1141171" cy="114117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41222" cy="1141222"/>
            </a:xfrm>
            <a:custGeom>
              <a:avLst/>
              <a:gdLst/>
              <a:ahLst/>
              <a:cxnLst/>
              <a:rect r="r" b="b" t="t" l="l"/>
              <a:pathLst>
                <a:path h="1141222" w="1141222">
                  <a:moveTo>
                    <a:pt x="0" y="0"/>
                  </a:moveTo>
                  <a:lnTo>
                    <a:pt x="1141222" y="0"/>
                  </a:lnTo>
                  <a:lnTo>
                    <a:pt x="1141222" y="1141222"/>
                  </a:lnTo>
                  <a:lnTo>
                    <a:pt x="0" y="1141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4" b="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4594860"/>
            <a:ext cx="4526280" cy="548640"/>
            <a:chOff x="0" y="0"/>
            <a:chExt cx="60350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35040" cy="731520"/>
            </a:xfrm>
            <a:custGeom>
              <a:avLst/>
              <a:gdLst/>
              <a:ahLst/>
              <a:cxnLst/>
              <a:rect r="r" b="b" t="t" l="l"/>
              <a:pathLst>
                <a:path h="7315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035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31620" y="5288280"/>
            <a:ext cx="3931920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Respuestas inmediatas y confiables, con escalamiento simple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05575" y="2870835"/>
            <a:ext cx="5093970" cy="5093970"/>
            <a:chOff x="0" y="0"/>
            <a:chExt cx="6791960" cy="6791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1961" cy="6791961"/>
            </a:xfrm>
            <a:custGeom>
              <a:avLst/>
              <a:gdLst/>
              <a:ahLst/>
              <a:cxnLst/>
              <a:rect r="r" b="b" t="t" l="l"/>
              <a:pathLst>
                <a:path h="6791961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608318"/>
                  </a:lnTo>
                  <a:cubicBezTo>
                    <a:pt x="6791961" y="6709664"/>
                    <a:pt x="6709791" y="6791961"/>
                    <a:pt x="6608318" y="6791961"/>
                  </a:cubicBezTo>
                  <a:lnTo>
                    <a:pt x="183642" y="6791961"/>
                  </a:lnTo>
                  <a:cubicBezTo>
                    <a:pt x="82169" y="6791960"/>
                    <a:pt x="0" y="6709791"/>
                    <a:pt x="0" y="66083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503920" y="3291840"/>
            <a:ext cx="1097280" cy="1097280"/>
            <a:chOff x="0" y="0"/>
            <a:chExt cx="146304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24621" y="3412541"/>
            <a:ext cx="855878" cy="855878"/>
            <a:chOff x="0" y="0"/>
            <a:chExt cx="1141171" cy="1141171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141222" cy="1141222"/>
            </a:xfrm>
            <a:custGeom>
              <a:avLst/>
              <a:gdLst/>
              <a:ahLst/>
              <a:cxnLst/>
              <a:rect r="r" b="b" t="t" l="l"/>
              <a:pathLst>
                <a:path h="1141222" w="1141222">
                  <a:moveTo>
                    <a:pt x="0" y="0"/>
                  </a:moveTo>
                  <a:lnTo>
                    <a:pt x="1141222" y="0"/>
                  </a:lnTo>
                  <a:lnTo>
                    <a:pt x="1141222" y="1141222"/>
                  </a:lnTo>
                  <a:lnTo>
                    <a:pt x="0" y="1141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89420" y="4594860"/>
            <a:ext cx="4526280" cy="548640"/>
            <a:chOff x="0" y="0"/>
            <a:chExt cx="60350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35040" cy="731520"/>
            </a:xfrm>
            <a:custGeom>
              <a:avLst/>
              <a:gdLst/>
              <a:ahLst/>
              <a:cxnLst/>
              <a:rect r="r" b="b" t="t" l="l"/>
              <a:pathLst>
                <a:path h="7315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035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Ejecutivo de atención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86600" y="5288280"/>
            <a:ext cx="3931920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Recibir solo los casos relevantes, con contexto completo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60555" y="2870835"/>
            <a:ext cx="5093970" cy="5093970"/>
            <a:chOff x="0" y="0"/>
            <a:chExt cx="6791960" cy="6791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1961" cy="6791961"/>
            </a:xfrm>
            <a:custGeom>
              <a:avLst/>
              <a:gdLst/>
              <a:ahLst/>
              <a:cxnLst/>
              <a:rect r="r" b="b" t="t" l="l"/>
              <a:pathLst>
                <a:path h="6791961" w="6791961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08318" y="0"/>
                  </a:lnTo>
                  <a:cubicBezTo>
                    <a:pt x="6709664" y="0"/>
                    <a:pt x="6791961" y="82169"/>
                    <a:pt x="6791961" y="183642"/>
                  </a:cubicBezTo>
                  <a:lnTo>
                    <a:pt x="6791961" y="6608318"/>
                  </a:lnTo>
                  <a:cubicBezTo>
                    <a:pt x="6791961" y="6709664"/>
                    <a:pt x="6709791" y="6791961"/>
                    <a:pt x="6608318" y="6791961"/>
                  </a:cubicBezTo>
                  <a:lnTo>
                    <a:pt x="183642" y="6791961"/>
                  </a:lnTo>
                  <a:cubicBezTo>
                    <a:pt x="82169" y="6791960"/>
                    <a:pt x="0" y="6709791"/>
                    <a:pt x="0" y="66083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058900" y="3291840"/>
            <a:ext cx="1097280" cy="1097280"/>
            <a:chOff x="0" y="0"/>
            <a:chExt cx="146304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79601" y="3412541"/>
            <a:ext cx="855878" cy="855878"/>
            <a:chOff x="0" y="0"/>
            <a:chExt cx="1141171" cy="1141171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141222" cy="1141222"/>
            </a:xfrm>
            <a:custGeom>
              <a:avLst/>
              <a:gdLst/>
              <a:ahLst/>
              <a:cxnLst/>
              <a:rect r="r" b="b" t="t" l="l"/>
              <a:pathLst>
                <a:path h="1141222" w="1141222">
                  <a:moveTo>
                    <a:pt x="0" y="0"/>
                  </a:moveTo>
                  <a:lnTo>
                    <a:pt x="1141222" y="0"/>
                  </a:lnTo>
                  <a:lnTo>
                    <a:pt x="1141222" y="1141222"/>
                  </a:lnTo>
                  <a:lnTo>
                    <a:pt x="0" y="1141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0" y="4594860"/>
            <a:ext cx="4526280" cy="548640"/>
            <a:chOff x="0" y="0"/>
            <a:chExt cx="60350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5040" cy="731520"/>
            </a:xfrm>
            <a:custGeom>
              <a:avLst/>
              <a:gdLst/>
              <a:ahLst/>
              <a:cxnLst/>
              <a:rect r="r" b="b" t="t" l="l"/>
              <a:pathLst>
                <a:path h="7315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035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Administrador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641580" y="5288280"/>
            <a:ext cx="3931920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75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Supervisar la base de conocimiento y la calidad del servicio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GOAL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1560" y="1270635"/>
            <a:ext cx="1613916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Que los clientes resuelvan sus consultas de forma inmediata y confiable a través de un asistente con IA, derivando a un humano solo cuando sea necesario, con trazabilidad completa.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120" y="3497580"/>
            <a:ext cx="3909060" cy="4869180"/>
            <a:chOff x="0" y="0"/>
            <a:chExt cx="5212080" cy="6492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120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309360"/>
                  </a:lnTo>
                  <a:cubicBezTo>
                    <a:pt x="5212080" y="6410325"/>
                    <a:pt x="5130165" y="6492240"/>
                    <a:pt x="50292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4590" y="3909060"/>
            <a:ext cx="960120" cy="960120"/>
            <a:chOff x="0" y="0"/>
            <a:chExt cx="128016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40203" y="4014673"/>
            <a:ext cx="748894" cy="748894"/>
            <a:chOff x="0" y="0"/>
            <a:chExt cx="998525" cy="99852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98448" y="5179695"/>
            <a:ext cx="3232404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Valor para el cliente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3312" y="5993130"/>
            <a:ext cx="3122676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FE2DD"/>
                </a:solidFill>
                <a:latin typeface="Calibri (MS)"/>
                <a:ea typeface="Calibri (MS)"/>
                <a:cs typeface="Calibri (MS)"/>
                <a:sym typeface="Calibri (MS)"/>
              </a:rPr>
              <a:t>Respuestas rápidas y confiables, sin inventar información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12080" y="3497580"/>
            <a:ext cx="3909060" cy="4869180"/>
            <a:chOff x="0" y="0"/>
            <a:chExt cx="5212080" cy="6492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20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309360"/>
                  </a:lnTo>
                  <a:cubicBezTo>
                    <a:pt x="5212080" y="6410325"/>
                    <a:pt x="5130165" y="6492240"/>
                    <a:pt x="50292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86550" y="3909060"/>
            <a:ext cx="960120" cy="960120"/>
            <a:chOff x="0" y="0"/>
            <a:chExt cx="12801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92163" y="4014673"/>
            <a:ext cx="748894" cy="748894"/>
            <a:chOff x="0" y="0"/>
            <a:chExt cx="998525" cy="99852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550408" y="5179695"/>
            <a:ext cx="3232404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Factibilidad técnica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05272" y="5993130"/>
            <a:ext cx="3122676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FE2DD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Tecnologías validadas, viables dentro del semestre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64040" y="3497580"/>
            <a:ext cx="3909060" cy="4869180"/>
            <a:chOff x="0" y="0"/>
            <a:chExt cx="5212080" cy="6492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20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309360"/>
                  </a:lnTo>
                  <a:cubicBezTo>
                    <a:pt x="5212080" y="6410325"/>
                    <a:pt x="5130165" y="6492240"/>
                    <a:pt x="50292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38510" y="390906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4123" y="4014673"/>
            <a:ext cx="748894" cy="748894"/>
            <a:chOff x="0" y="0"/>
            <a:chExt cx="998525" cy="998525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802368" y="5179695"/>
            <a:ext cx="3232404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Impacto organizacional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57232" y="5993130"/>
            <a:ext cx="3122676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FE2DD"/>
                </a:solidFill>
                <a:latin typeface="Calibri (MS)"/>
                <a:ea typeface="Calibri (MS)"/>
                <a:cs typeface="Calibri (MS)"/>
                <a:sym typeface="Calibri (MS)"/>
              </a:rPr>
              <a:t>Menor carga operativa, más tiempo para casos complejos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716000" y="3497580"/>
            <a:ext cx="3909060" cy="4869180"/>
            <a:chOff x="0" y="0"/>
            <a:chExt cx="5212080" cy="6492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2080" cy="6492240"/>
            </a:xfrm>
            <a:custGeom>
              <a:avLst/>
              <a:gdLst/>
              <a:ahLst/>
              <a:cxnLst/>
              <a:rect r="r" b="b" t="t" l="l"/>
              <a:pathLst>
                <a:path h="64922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309360"/>
                  </a:lnTo>
                  <a:cubicBezTo>
                    <a:pt x="5212080" y="6410325"/>
                    <a:pt x="5130165" y="6492240"/>
                    <a:pt x="502920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190470" y="3909060"/>
            <a:ext cx="960120" cy="960120"/>
            <a:chOff x="0" y="0"/>
            <a:chExt cx="1280160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296083" y="4014673"/>
            <a:ext cx="748894" cy="748894"/>
            <a:chOff x="0" y="0"/>
            <a:chExt cx="998525" cy="998525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4054328" y="5179695"/>
            <a:ext cx="3232404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Sostenibilidad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09192" y="5993130"/>
            <a:ext cx="3122676" cy="212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CFE2DD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desacoplada, fácil de mantener y evolucionar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3A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DEFINICIÓN FORMAL DE ENTREGABLES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 entregables, 4 frentes de trabajo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733675"/>
            <a:ext cx="7905750" cy="2556510"/>
            <a:chOff x="0" y="0"/>
            <a:chExt cx="10541000" cy="3408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05410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356723" y="0"/>
                  </a:lnTo>
                  <a:cubicBezTo>
                    <a:pt x="10458450" y="0"/>
                    <a:pt x="10541000" y="82550"/>
                    <a:pt x="10541000" y="184277"/>
                  </a:cubicBezTo>
                  <a:lnTo>
                    <a:pt x="10541000" y="3224403"/>
                  </a:lnTo>
                  <a:cubicBezTo>
                    <a:pt x="10541000" y="3326130"/>
                    <a:pt x="10458450" y="3408680"/>
                    <a:pt x="103567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15468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93546" y="3245206"/>
            <a:ext cx="641909" cy="641909"/>
            <a:chOff x="0" y="0"/>
            <a:chExt cx="855878" cy="85587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92440" y="2990088"/>
            <a:ext cx="521208" cy="521208"/>
            <a:chOff x="0" y="0"/>
            <a:chExt cx="694944" cy="694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92440" y="2990088"/>
            <a:ext cx="521208" cy="521208"/>
            <a:chOff x="0" y="0"/>
            <a:chExt cx="694944" cy="6949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00300" y="3044952"/>
            <a:ext cx="5623560" cy="548640"/>
            <a:chOff x="0" y="0"/>
            <a:chExt cx="74980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Plataforma y usuarios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91740" y="3651885"/>
            <a:ext cx="592074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· Usuarios y roles · Panel administrativo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7355" y="2733675"/>
            <a:ext cx="7905750" cy="2556510"/>
            <a:chOff x="0" y="0"/>
            <a:chExt cx="10541000" cy="3408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10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05410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356723" y="0"/>
                  </a:lnTo>
                  <a:cubicBezTo>
                    <a:pt x="10458450" y="0"/>
                    <a:pt x="10541000" y="82550"/>
                    <a:pt x="10541000" y="184277"/>
                  </a:cubicBezTo>
                  <a:lnTo>
                    <a:pt x="10541000" y="3224403"/>
                  </a:lnTo>
                  <a:cubicBezTo>
                    <a:pt x="10541000" y="3326130"/>
                    <a:pt x="10458450" y="3408680"/>
                    <a:pt x="103567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69780" y="315468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60306" y="3245206"/>
            <a:ext cx="641909" cy="641909"/>
            <a:chOff x="0" y="0"/>
            <a:chExt cx="855878" cy="85587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459200" y="2990088"/>
            <a:ext cx="521208" cy="521208"/>
            <a:chOff x="0" y="0"/>
            <a:chExt cx="694944" cy="6949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59200" y="2990088"/>
            <a:ext cx="521208" cy="521208"/>
            <a:chOff x="0" y="0"/>
            <a:chExt cx="694944" cy="6949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67060" y="3044952"/>
            <a:ext cx="5623560" cy="548640"/>
            <a:chOff x="0" y="0"/>
            <a:chExt cx="74980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IA y conocimiento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858500" y="3651885"/>
            <a:ext cx="592074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Asistente conversacional · Base de conocimiento · Motor RAG · Control de confianza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0595" y="5614035"/>
            <a:ext cx="7905750" cy="2556510"/>
            <a:chOff x="0" y="0"/>
            <a:chExt cx="10541000" cy="3408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410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05410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356723" y="0"/>
                  </a:lnTo>
                  <a:cubicBezTo>
                    <a:pt x="10458450" y="0"/>
                    <a:pt x="10541000" y="82550"/>
                    <a:pt x="10541000" y="184277"/>
                  </a:cubicBezTo>
                  <a:lnTo>
                    <a:pt x="10541000" y="3224403"/>
                  </a:lnTo>
                  <a:cubicBezTo>
                    <a:pt x="10541000" y="3326130"/>
                    <a:pt x="10458450" y="3408680"/>
                    <a:pt x="103567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03020" y="6035040"/>
            <a:ext cx="822960" cy="822960"/>
            <a:chOff x="0" y="0"/>
            <a:chExt cx="10972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3546" y="6125566"/>
            <a:ext cx="641909" cy="641909"/>
            <a:chOff x="0" y="0"/>
            <a:chExt cx="855878" cy="855878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092440" y="5870448"/>
            <a:ext cx="521208" cy="521208"/>
            <a:chOff x="0" y="0"/>
            <a:chExt cx="694944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092440" y="5870448"/>
            <a:ext cx="521208" cy="521208"/>
            <a:chOff x="0" y="0"/>
            <a:chExt cx="694944" cy="694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400300" y="5925312"/>
            <a:ext cx="5623560" cy="548640"/>
            <a:chOff x="0" y="0"/>
            <a:chExt cx="74980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Soporte y trazabilidad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491740" y="6532245"/>
            <a:ext cx="592074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Escalamiento · Tickets · Historial · Dashboard de métricas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317355" y="5614035"/>
            <a:ext cx="7905750" cy="2556510"/>
            <a:chOff x="0" y="0"/>
            <a:chExt cx="10541000" cy="3408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410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05410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356723" y="0"/>
                  </a:lnTo>
                  <a:cubicBezTo>
                    <a:pt x="10458450" y="0"/>
                    <a:pt x="10541000" y="82550"/>
                    <a:pt x="10541000" y="184277"/>
                  </a:cubicBezTo>
                  <a:lnTo>
                    <a:pt x="10541000" y="3224403"/>
                  </a:lnTo>
                  <a:cubicBezTo>
                    <a:pt x="10541000" y="3326130"/>
                    <a:pt x="10458450" y="3408680"/>
                    <a:pt x="103567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69780" y="6035040"/>
            <a:ext cx="822960" cy="822960"/>
            <a:chOff x="0" y="0"/>
            <a:chExt cx="10972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60306" y="6125566"/>
            <a:ext cx="641909" cy="641909"/>
            <a:chOff x="0" y="0"/>
            <a:chExt cx="855878" cy="855878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59200" y="5870448"/>
            <a:ext cx="521208" cy="521208"/>
            <a:chOff x="0" y="0"/>
            <a:chExt cx="694944" cy="6949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459200" y="5870448"/>
            <a:ext cx="521208" cy="521208"/>
            <a:chOff x="0" y="0"/>
            <a:chExt cx="694944" cy="6949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767060" y="5925312"/>
            <a:ext cx="5623560" cy="548640"/>
            <a:chOff x="0" y="0"/>
            <a:chExt cx="74980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498080" cy="731520"/>
            </a:xfrm>
            <a:custGeom>
              <a:avLst/>
              <a:gdLst/>
              <a:ahLst/>
              <a:cxnLst/>
              <a:rect r="r" b="b" t="t" l="l"/>
              <a:pathLst>
                <a:path h="73152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7498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Infraestructura y calidad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858500" y="6532245"/>
            <a:ext cx="5920740" cy="130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Backend/API · Base de datos · Seguridad · Pruebas · Despliegue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04E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PLANIFICACIÓN INICIAL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0120"/>
            <a:ext cx="16459200" cy="960120"/>
            <a:chOff x="0" y="0"/>
            <a:chExt cx="219456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11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 ágil y Carta Gantt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67462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3102" y="2757602"/>
            <a:ext cx="588416" cy="588416"/>
            <a:chOff x="0" y="0"/>
            <a:chExt cx="784555" cy="78455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88820" y="2674620"/>
            <a:ext cx="14813280" cy="822960"/>
            <a:chOff x="0" y="0"/>
            <a:chExt cx="197510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51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7510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11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Metodología Scrum: sprints cortos, backlog priorizado y entregas incrementales validadas con el equipo en cada iteración.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595" y="4036695"/>
            <a:ext cx="5162550" cy="4956810"/>
            <a:chOff x="0" y="0"/>
            <a:chExt cx="6883400" cy="6609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34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688340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99758" y="0"/>
                  </a:lnTo>
                  <a:cubicBezTo>
                    <a:pt x="6801231" y="0"/>
                    <a:pt x="6883400" y="82169"/>
                    <a:pt x="6883400" y="183642"/>
                  </a:cubicBezTo>
                  <a:lnTo>
                    <a:pt x="6883400" y="6425438"/>
                  </a:lnTo>
                  <a:cubicBezTo>
                    <a:pt x="6883400" y="6526784"/>
                    <a:pt x="6801231" y="6609080"/>
                    <a:pt x="6699758" y="6609080"/>
                  </a:cubicBezTo>
                  <a:lnTo>
                    <a:pt x="183642" y="6609080"/>
                  </a:lnTo>
                  <a:cubicBezTo>
                    <a:pt x="82169" y="6609080"/>
                    <a:pt x="0" y="6526911"/>
                    <a:pt x="0" y="6425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445770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62126" y="4548226"/>
            <a:ext cx="641909" cy="641909"/>
            <a:chOff x="0" y="0"/>
            <a:chExt cx="855878" cy="85587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5486400"/>
            <a:ext cx="4320540" cy="480060"/>
            <a:chOff x="0" y="0"/>
            <a:chExt cx="576072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60720" cy="640080"/>
            </a:xfrm>
            <a:custGeom>
              <a:avLst/>
              <a:gdLst/>
              <a:ahLst/>
              <a:cxnLst/>
              <a:rect r="r" b="b" t="t" l="l"/>
              <a:pathLst>
                <a:path h="640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760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238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Fase 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5966460"/>
            <a:ext cx="4320540" cy="685800"/>
            <a:chOff x="0" y="0"/>
            <a:chExt cx="576072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760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1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Diagnóstico y planificación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63040" y="6737985"/>
            <a:ext cx="4137660" cy="19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Requerimientos, arquitectura y modelo de datos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131052" y="5829300"/>
            <a:ext cx="411480" cy="685800"/>
            <a:chOff x="0" y="0"/>
            <a:chExt cx="54864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5486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83680" y="4046220"/>
            <a:ext cx="5143500" cy="4937760"/>
            <a:chOff x="0" y="0"/>
            <a:chExt cx="6858000" cy="6583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580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6400800"/>
                  </a:lnTo>
                  <a:cubicBezTo>
                    <a:pt x="6858000" y="6501765"/>
                    <a:pt x="6776085" y="6583680"/>
                    <a:pt x="667512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001D3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95160" y="4457700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8E0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85686" y="4548226"/>
            <a:ext cx="641909" cy="641909"/>
            <a:chOff x="0" y="0"/>
            <a:chExt cx="855878" cy="855878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995160" y="5486400"/>
            <a:ext cx="4320540" cy="480060"/>
            <a:chOff x="0" y="0"/>
            <a:chExt cx="576072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60720" cy="640080"/>
            </a:xfrm>
            <a:custGeom>
              <a:avLst/>
              <a:gdLst/>
              <a:ahLst/>
              <a:cxnLst/>
              <a:rect r="r" b="b" t="t" l="l"/>
              <a:pathLst>
                <a:path h="640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760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8E0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Fase 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95160" y="5966460"/>
            <a:ext cx="4320540" cy="685800"/>
            <a:chOff x="0" y="0"/>
            <a:chExt cx="576072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760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e implementación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086600" y="6737985"/>
            <a:ext cx="4137660" cy="19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FE2DD"/>
                </a:solidFill>
                <a:latin typeface="Calibri (MS)"/>
                <a:ea typeface="Calibri (MS)"/>
                <a:cs typeface="Calibri (MS)"/>
                <a:sym typeface="Calibri (MS)"/>
              </a:rPr>
              <a:t>Motor RAG, chatbot, tickets, panel y seguridad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754612" y="5829300"/>
            <a:ext cx="411480" cy="685800"/>
            <a:chOff x="0" y="0"/>
            <a:chExt cx="54864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54864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F6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97715" y="4036695"/>
            <a:ext cx="5162550" cy="4956810"/>
            <a:chOff x="0" y="0"/>
            <a:chExt cx="6883400" cy="6609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83400" cy="6609080"/>
            </a:xfrm>
            <a:custGeom>
              <a:avLst/>
              <a:gdLst/>
              <a:ahLst/>
              <a:cxnLst/>
              <a:rect r="r" b="b" t="t" l="l"/>
              <a:pathLst>
                <a:path h="6609080" w="688340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6699758" y="0"/>
                  </a:lnTo>
                  <a:cubicBezTo>
                    <a:pt x="6801231" y="0"/>
                    <a:pt x="6883400" y="82169"/>
                    <a:pt x="6883400" y="183642"/>
                  </a:cubicBezTo>
                  <a:lnTo>
                    <a:pt x="6883400" y="6425438"/>
                  </a:lnTo>
                  <a:cubicBezTo>
                    <a:pt x="6883400" y="6526784"/>
                    <a:pt x="6801231" y="6609080"/>
                    <a:pt x="6699758" y="6609080"/>
                  </a:cubicBezTo>
                  <a:lnTo>
                    <a:pt x="183642" y="6609080"/>
                  </a:lnTo>
                  <a:cubicBezTo>
                    <a:pt x="82169" y="6609080"/>
                    <a:pt x="0" y="6526911"/>
                    <a:pt x="0" y="6425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0D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18720" y="4457700"/>
            <a:ext cx="822960" cy="822960"/>
            <a:chOff x="0" y="0"/>
            <a:chExt cx="109728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709246" y="4548226"/>
            <a:ext cx="641909" cy="641909"/>
            <a:chOff x="0" y="0"/>
            <a:chExt cx="855878" cy="855878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618720" y="5486400"/>
            <a:ext cx="4320540" cy="480060"/>
            <a:chOff x="0" y="0"/>
            <a:chExt cx="576072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60720" cy="640080"/>
            </a:xfrm>
            <a:custGeom>
              <a:avLst/>
              <a:gdLst/>
              <a:ahLst/>
              <a:cxnLst/>
              <a:rect r="r" b="b" t="t" l="l"/>
              <a:pathLst>
                <a:path h="64008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760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2383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Fase 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18720" y="5966460"/>
            <a:ext cx="4320540" cy="685800"/>
            <a:chOff x="0" y="0"/>
            <a:chExt cx="576072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760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B21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Pruebas, cierre y entrega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710160" y="6737985"/>
            <a:ext cx="4137660" cy="19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662"/>
                </a:solidFill>
                <a:latin typeface="Calibri (MS)"/>
                <a:ea typeface="Calibri (MS)"/>
                <a:cs typeface="Calibri (MS)"/>
                <a:sym typeface="Calibri (MS)"/>
              </a:rPr>
              <a:t>Plan de pruebas, despliegue y documentación final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66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658368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754380"/>
            <a:ext cx="8229600" cy="411480"/>
            <a:chOff x="0" y="0"/>
            <a:chExt cx="10972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D98E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CIERRE FASE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165860"/>
            <a:ext cx="13716000" cy="1097280"/>
            <a:chOff x="0" y="0"/>
            <a:chExt cx="182880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94894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3102" y="3031922"/>
            <a:ext cx="588416" cy="588416"/>
            <a:chOff x="0" y="0"/>
            <a:chExt cx="784555" cy="78455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57400" y="2866644"/>
            <a:ext cx="14950440" cy="1028700"/>
            <a:chOff x="0" y="0"/>
            <a:chExt cx="19933920" cy="1371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933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F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problema está validado con evidencia real de la industria, no solo con una suposición.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4347972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43102" y="4430954"/>
            <a:ext cx="588416" cy="588416"/>
            <a:chOff x="0" y="0"/>
            <a:chExt cx="784555" cy="78455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57400" y="4265676"/>
            <a:ext cx="14950440" cy="1028700"/>
            <a:chOff x="0" y="0"/>
            <a:chExt cx="19933920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9933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F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SupportAI tiene objetivos, alcance y entregables claramente definidos, y es técnicamente factible en 18 semanas.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5747004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43102" y="5829986"/>
            <a:ext cx="588416" cy="588416"/>
            <a:chOff x="0" y="0"/>
            <a:chExt cx="784555" cy="784555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664708"/>
            <a:ext cx="14950440" cy="1028700"/>
            <a:chOff x="0" y="0"/>
            <a:chExt cx="1993392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9933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F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proyecto se alinea directamente con las competencias del perfil de egreso de Ingeniería en Informática.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20" y="7146036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04E8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3102" y="7229018"/>
            <a:ext cx="588416" cy="588416"/>
            <a:chOff x="0" y="0"/>
            <a:chExt cx="784555" cy="784555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84606" cy="784606"/>
            </a:xfrm>
            <a:custGeom>
              <a:avLst/>
              <a:gdLst/>
              <a:ahLst/>
              <a:cxnLst/>
              <a:rect r="r" b="b" t="t" l="l"/>
              <a:pathLst>
                <a:path h="784606" w="784606">
                  <a:moveTo>
                    <a:pt x="0" y="0"/>
                  </a:moveTo>
                  <a:lnTo>
                    <a:pt x="784606" y="0"/>
                  </a:lnTo>
                  <a:lnTo>
                    <a:pt x="784606" y="784606"/>
                  </a:lnTo>
                  <a:lnTo>
                    <a:pt x="0" y="784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57400" y="7063740"/>
            <a:ext cx="14950440" cy="1028700"/>
            <a:chOff x="0" y="0"/>
            <a:chExt cx="199339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933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182" r="0" b="-2331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99339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F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Contamos con una metodología (Scrum) y una planificación (Carta Gantt) que sustentan la ejecución de la Fase 2.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DAHUAO9PFmw</dc:identifier>
  <dcterms:modified xsi:type="dcterms:W3CDTF">2011-08-01T06:04:30Z</dcterms:modified>
  <cp:revision>1</cp:revision>
  <dc:title>Presentacion Proyecto</dc:title>
</cp:coreProperties>
</file>